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2"/>
  </p:notesMasterIdLst>
  <p:sldIdLst>
    <p:sldId id="256" r:id="rId2"/>
    <p:sldId id="257" r:id="rId3"/>
    <p:sldId id="258" r:id="rId4"/>
    <p:sldId id="260" r:id="rId5"/>
    <p:sldId id="273" r:id="rId6"/>
    <p:sldId id="263" r:id="rId7"/>
    <p:sldId id="264" r:id="rId8"/>
    <p:sldId id="265" r:id="rId9"/>
    <p:sldId id="274" r:id="rId10"/>
    <p:sldId id="275" r:id="rId11"/>
    <p:sldId id="267" r:id="rId12"/>
    <p:sldId id="268" r:id="rId13"/>
    <p:sldId id="266" r:id="rId14"/>
    <p:sldId id="276" r:id="rId15"/>
    <p:sldId id="277" r:id="rId16"/>
    <p:sldId id="269" r:id="rId17"/>
    <p:sldId id="272" r:id="rId18"/>
    <p:sldId id="270" r:id="rId19"/>
    <p:sldId id="278" r:id="rId20"/>
    <p:sldId id="271" r:id="rId21"/>
  </p:sldIdLst>
  <p:sldSz cx="9144000" cy="5143500" type="screen16x9"/>
  <p:notesSz cx="9144000" cy="51435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182" autoAdjust="0"/>
    <p:restoredTop sz="94660"/>
  </p:normalViewPr>
  <p:slideViewPr>
    <p:cSldViewPr>
      <p:cViewPr>
        <p:scale>
          <a:sx n="75" d="100"/>
          <a:sy n="75" d="100"/>
        </p:scale>
        <p:origin x="1474" y="533"/>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8629" name="Rectangle 2"/>
          <p:cNvSpPr>
            <a:spLocks noGrp="1" noChangeArrowheads="1"/>
          </p:cNvSpPr>
          <p:nvPr>
            <p:ph type="hdr" sz="quarter"/>
          </p:nvPr>
        </p:nvSpPr>
        <p:spPr bwMode="auto">
          <a:xfrm>
            <a:off x="2" y="1"/>
            <a:ext cx="3076575" cy="512763"/>
          </a:xfrm>
          <a:prstGeom prst="rect">
            <a:avLst/>
          </a:prstGeom>
          <a:noFill/>
          <a:ln w="9525">
            <a:noFill/>
            <a:miter lim="800000"/>
            <a:headEnd/>
            <a:tailEnd/>
          </a:ln>
          <a:effectLst/>
        </p:spPr>
        <p:txBody>
          <a:bodyPr vert="horz" wrap="square" lIns="91492" tIns="45745" rIns="91492" bIns="45745" numCol="1" anchor="t" anchorCtr="0" compatLnSpc="1">
            <a:prstTxWarp prst="textNoShape">
              <a:avLst/>
            </a:prstTxWarp>
          </a:bodyPr>
          <a:lstStyle>
            <a:lvl1pPr algn="l">
              <a:defRPr sz="1100"/>
            </a:lvl1pPr>
          </a:lstStyle>
          <a:p>
            <a:endParaRPr lang="en-US"/>
          </a:p>
        </p:txBody>
      </p:sp>
      <p:sp>
        <p:nvSpPr>
          <p:cNvPr id="1048630" name="Rectangle 3"/>
          <p:cNvSpPr>
            <a:spLocks noGrp="1" noChangeArrowheads="1"/>
          </p:cNvSpPr>
          <p:nvPr>
            <p:ph type="dt" idx="1"/>
          </p:nvPr>
        </p:nvSpPr>
        <p:spPr bwMode="auto">
          <a:xfrm>
            <a:off x="4021139" y="1"/>
            <a:ext cx="3076575" cy="512763"/>
          </a:xfrm>
          <a:prstGeom prst="rect">
            <a:avLst/>
          </a:prstGeom>
          <a:noFill/>
          <a:ln w="9525">
            <a:noFill/>
            <a:miter lim="800000"/>
            <a:headEnd/>
            <a:tailEnd/>
          </a:ln>
          <a:effectLst/>
        </p:spPr>
        <p:txBody>
          <a:bodyPr vert="horz" wrap="square" lIns="91492" tIns="45745" rIns="91492" bIns="45745" numCol="1" anchor="t" anchorCtr="0" compatLnSpc="1">
            <a:prstTxWarp prst="textNoShape">
              <a:avLst/>
            </a:prstTxWarp>
          </a:bodyPr>
          <a:lstStyle>
            <a:lvl1pPr algn="r">
              <a:defRPr sz="1100"/>
            </a:lvl1pPr>
          </a:lstStyle>
          <a:p>
            <a:endParaRPr lang="en-US"/>
          </a:p>
        </p:txBody>
      </p:sp>
      <p:sp>
        <p:nvSpPr>
          <p:cNvPr id="1048631" name="Rectangle 4"/>
          <p:cNvSpPr>
            <a:spLocks noGrp="1" noRot="1" noChangeAspect="1" noChangeArrowheads="1" noTextEdit="1"/>
          </p:cNvSpPr>
          <p:nvPr>
            <p:ph type="sldImg" idx="2"/>
          </p:nvPr>
        </p:nvSpPr>
        <p:spPr bwMode="auto">
          <a:xfrm>
            <a:off x="990600" y="766763"/>
            <a:ext cx="5118100" cy="3838575"/>
          </a:xfrm>
          <a:prstGeom prst="rect">
            <a:avLst/>
          </a:prstGeom>
          <a:noFill/>
          <a:ln w="9525">
            <a:solidFill>
              <a:srgbClr val="000000"/>
            </a:solidFill>
            <a:miter lim="800000"/>
            <a:headEnd/>
            <a:tailEnd/>
          </a:ln>
          <a:effectLst/>
        </p:spPr>
        <p:txBody>
          <a:bodyPr/>
          <a:lstStyle/>
          <a:p>
            <a:endParaRPr lang="en-US"/>
          </a:p>
        </p:txBody>
      </p:sp>
      <p:sp>
        <p:nvSpPr>
          <p:cNvPr id="1048632" name="Rectangle 5"/>
          <p:cNvSpPr>
            <a:spLocks noGrp="1" noChangeArrowheads="1"/>
          </p:cNvSpPr>
          <p:nvPr>
            <p:ph type="body" sz="quarter" idx="3"/>
          </p:nvPr>
        </p:nvSpPr>
        <p:spPr bwMode="auto">
          <a:xfrm>
            <a:off x="709614" y="4862514"/>
            <a:ext cx="5680075" cy="4605337"/>
          </a:xfrm>
          <a:prstGeom prst="rect">
            <a:avLst/>
          </a:prstGeom>
          <a:noFill/>
          <a:ln w="9525">
            <a:noFill/>
            <a:miter lim="800000"/>
            <a:headEnd/>
            <a:tailEnd/>
          </a:ln>
          <a:effectLst/>
        </p:spPr>
        <p:txBody>
          <a:bodyPr vert="horz" wrap="square" lIns="91492" tIns="45745" rIns="91492" bIns="45745"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33" name="Rectangle 6"/>
          <p:cNvSpPr>
            <a:spLocks noGrp="1" noChangeArrowheads="1"/>
          </p:cNvSpPr>
          <p:nvPr>
            <p:ph type="ftr" sz="quarter" idx="4"/>
          </p:nvPr>
        </p:nvSpPr>
        <p:spPr bwMode="auto">
          <a:xfrm>
            <a:off x="2" y="9720264"/>
            <a:ext cx="3076575" cy="512762"/>
          </a:xfrm>
          <a:prstGeom prst="rect">
            <a:avLst/>
          </a:prstGeom>
          <a:noFill/>
          <a:ln w="9525">
            <a:noFill/>
            <a:miter lim="800000"/>
            <a:headEnd/>
            <a:tailEnd/>
          </a:ln>
          <a:effectLst/>
        </p:spPr>
        <p:txBody>
          <a:bodyPr vert="horz" wrap="square" lIns="91492" tIns="45745" rIns="91492" bIns="45745" numCol="1" anchor="b" anchorCtr="0" compatLnSpc="1">
            <a:prstTxWarp prst="textNoShape">
              <a:avLst/>
            </a:prstTxWarp>
          </a:bodyPr>
          <a:lstStyle>
            <a:lvl1pPr algn="l">
              <a:defRPr sz="1100"/>
            </a:lvl1pPr>
          </a:lstStyle>
          <a:p>
            <a:endParaRPr lang="en-US"/>
          </a:p>
        </p:txBody>
      </p:sp>
      <p:sp>
        <p:nvSpPr>
          <p:cNvPr id="1048634" name="Rectangle 7"/>
          <p:cNvSpPr>
            <a:spLocks noGrp="1" noChangeArrowheads="1"/>
          </p:cNvSpPr>
          <p:nvPr>
            <p:ph type="sldNum" sz="quarter" idx="5"/>
          </p:nvPr>
        </p:nvSpPr>
        <p:spPr bwMode="auto">
          <a:xfrm>
            <a:off x="4021139" y="9720264"/>
            <a:ext cx="3076575" cy="512762"/>
          </a:xfrm>
          <a:prstGeom prst="rect">
            <a:avLst/>
          </a:prstGeom>
          <a:noFill/>
          <a:ln w="9525">
            <a:noFill/>
            <a:miter lim="800000"/>
            <a:headEnd/>
            <a:tailEnd/>
          </a:ln>
          <a:effectLst/>
        </p:spPr>
        <p:txBody>
          <a:bodyPr vert="horz" wrap="square" lIns="91492" tIns="45745" rIns="91492" bIns="45745" numCol="1" anchor="b" anchorCtr="0" compatLnSpc="1">
            <a:prstTxWarp prst="textNoShape">
              <a:avLst/>
            </a:prstTxWarp>
          </a:bodyPr>
          <a:lstStyle>
            <a:lvl1pPr algn="r">
              <a:defRPr sz="1100"/>
            </a:lvl1pPr>
          </a:lstStyle>
          <a:p>
            <a:fld id="{A9A0EA98-5831-4853-B862-C702E6EB345C}" type="slidenum">
              <a:rPr lang="en-US"/>
              <a:pPr/>
              <a:t>‹#›</a:t>
            </a:fld>
            <a:endParaRPr 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charset="0"/>
        <a:ea typeface="+mn-ea"/>
        <a:cs typeface="+mn-cs"/>
      </a:defRPr>
    </a:lvl1pPr>
    <a:lvl2pPr marL="457200" algn="l" rtl="0" fontAlgn="base">
      <a:spcBef>
        <a:spcPct val="30000"/>
      </a:spcBef>
      <a:spcAft>
        <a:spcPct val="0"/>
      </a:spcAft>
      <a:defRPr sz="1200" kern="1200">
        <a:solidFill>
          <a:schemeClr val="tx1"/>
        </a:solidFill>
        <a:latin typeface="Arial" charset="0"/>
        <a:ea typeface="+mn-ea"/>
        <a:cs typeface="+mn-cs"/>
      </a:defRPr>
    </a:lvl2pPr>
    <a:lvl3pPr marL="914400" algn="l" rtl="0" fontAlgn="base">
      <a:spcBef>
        <a:spcPct val="30000"/>
      </a:spcBef>
      <a:spcAft>
        <a:spcPct val="0"/>
      </a:spcAft>
      <a:defRPr sz="1200" kern="1200">
        <a:solidFill>
          <a:schemeClr val="tx1"/>
        </a:solidFill>
        <a:latin typeface="Arial" charset="0"/>
        <a:ea typeface="+mn-ea"/>
        <a:cs typeface="+mn-cs"/>
      </a:defRPr>
    </a:lvl3pPr>
    <a:lvl4pPr marL="1371600" algn="l" rtl="0" fontAlgn="base">
      <a:spcBef>
        <a:spcPct val="30000"/>
      </a:spcBef>
      <a:spcAft>
        <a:spcPct val="0"/>
      </a:spcAft>
      <a:defRPr sz="1200" kern="1200">
        <a:solidFill>
          <a:schemeClr val="tx1"/>
        </a:solidFill>
        <a:latin typeface="Arial" charset="0"/>
        <a:ea typeface="+mn-ea"/>
        <a:cs typeface="+mn-cs"/>
      </a:defRPr>
    </a:lvl4pPr>
    <a:lvl5pPr marL="1828800" algn="l" rtl="0" fontAlgn="base">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1048615" name="Holder 2"/>
          <p:cNvSpPr>
            <a:spLocks noGrp="1"/>
          </p:cNvSpPr>
          <p:nvPr>
            <p:ph type="ctrTitle"/>
          </p:nvPr>
        </p:nvSpPr>
        <p:spPr>
          <a:xfrm>
            <a:off x="685800" y="1594485"/>
            <a:ext cx="7772400" cy="1080135"/>
          </a:xfrm>
          <a:prstGeom prst="rect">
            <a:avLst/>
          </a:prstGeom>
        </p:spPr>
        <p:txBody>
          <a:bodyPr wrap="square" lIns="0" tIns="0" rIns="0" bIns="0">
            <a:spAutoFit/>
          </a:bodyPr>
          <a:lstStyle/>
          <a:p>
            <a:endParaRPr/>
          </a:p>
        </p:txBody>
      </p:sp>
      <p:sp>
        <p:nvSpPr>
          <p:cNvPr id="1048616" name="Holder 3"/>
          <p:cNvSpPr>
            <a:spLocks noGrp="1"/>
          </p:cNvSpPr>
          <p:nvPr>
            <p:ph type="subTitle" idx="4"/>
          </p:nvPr>
        </p:nvSpPr>
        <p:spPr>
          <a:xfrm>
            <a:off x="1371600" y="2880360"/>
            <a:ext cx="6400800" cy="1285875"/>
          </a:xfrm>
          <a:prstGeom prst="rect">
            <a:avLst/>
          </a:prstGeom>
        </p:spPr>
        <p:txBody>
          <a:bodyPr wrap="square" lIns="0" tIns="0" rIns="0" bIns="0">
            <a:spAutoFit/>
          </a:bodyPr>
          <a:lstStyle/>
          <a:p>
            <a:endParaRPr/>
          </a:p>
        </p:txBody>
      </p:sp>
      <p:sp>
        <p:nvSpPr>
          <p:cNvPr id="1048617"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1048618"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4/20/2026</a:t>
            </a:fld>
            <a:endParaRPr lang="en-US"/>
          </a:p>
        </p:txBody>
      </p:sp>
      <p:sp>
        <p:nvSpPr>
          <p:cNvPr id="1048619"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048581" name="Holder 2"/>
          <p:cNvSpPr>
            <a:spLocks noGrp="1"/>
          </p:cNvSpPr>
          <p:nvPr>
            <p:ph type="title"/>
          </p:nvPr>
        </p:nvSpPr>
        <p:spPr/>
        <p:txBody>
          <a:bodyPr lIns="0" tIns="0" rIns="0" bIns="0"/>
          <a:lstStyle>
            <a:lvl1pPr>
              <a:defRPr sz="3000" b="1" i="0">
                <a:solidFill>
                  <a:srgbClr val="1F487C"/>
                </a:solidFill>
                <a:latin typeface="Calibri"/>
                <a:cs typeface="Calibri"/>
              </a:defRPr>
            </a:lvl1pPr>
          </a:lstStyle>
          <a:p>
            <a:endParaRPr/>
          </a:p>
        </p:txBody>
      </p:sp>
      <p:sp>
        <p:nvSpPr>
          <p:cNvPr id="1048582" name="Holder 3"/>
          <p:cNvSpPr>
            <a:spLocks noGrp="1"/>
          </p:cNvSpPr>
          <p:nvPr>
            <p:ph type="body" idx="1"/>
          </p:nvPr>
        </p:nvSpPr>
        <p:spPr/>
        <p:txBody>
          <a:bodyPr lIns="0" tIns="0" rIns="0" bIns="0"/>
          <a:lstStyle>
            <a:lvl1pPr>
              <a:defRPr sz="4400" b="1" i="0">
                <a:solidFill>
                  <a:srgbClr val="1F487C"/>
                </a:solidFill>
                <a:latin typeface="Cambria"/>
                <a:cs typeface="Cambria"/>
              </a:defRPr>
            </a:lvl1pPr>
          </a:lstStyle>
          <a:p>
            <a:endParaRPr/>
          </a:p>
        </p:txBody>
      </p:sp>
      <p:sp>
        <p:nvSpPr>
          <p:cNvPr id="1048583"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1048584"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4/20/2026</a:t>
            </a:fld>
            <a:endParaRPr lang="en-US"/>
          </a:p>
        </p:txBody>
      </p:sp>
      <p:sp>
        <p:nvSpPr>
          <p:cNvPr id="1048585"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1048620" name="Holder 2"/>
          <p:cNvSpPr>
            <a:spLocks noGrp="1"/>
          </p:cNvSpPr>
          <p:nvPr>
            <p:ph type="title"/>
          </p:nvPr>
        </p:nvSpPr>
        <p:spPr/>
        <p:txBody>
          <a:bodyPr lIns="0" tIns="0" rIns="0" bIns="0"/>
          <a:lstStyle>
            <a:lvl1pPr>
              <a:defRPr sz="3000" b="1" i="0">
                <a:solidFill>
                  <a:srgbClr val="1F487C"/>
                </a:solidFill>
                <a:latin typeface="Calibri"/>
                <a:cs typeface="Calibri"/>
              </a:defRPr>
            </a:lvl1pPr>
          </a:lstStyle>
          <a:p>
            <a:endParaRPr/>
          </a:p>
        </p:txBody>
      </p:sp>
      <p:sp>
        <p:nvSpPr>
          <p:cNvPr id="1048621" name="Holder 3"/>
          <p:cNvSpPr>
            <a:spLocks noGrp="1"/>
          </p:cNvSpPr>
          <p:nvPr>
            <p:ph sz="half" idx="2"/>
          </p:nvPr>
        </p:nvSpPr>
        <p:spPr>
          <a:xfrm>
            <a:off x="457200" y="1183005"/>
            <a:ext cx="3977640" cy="3394710"/>
          </a:xfrm>
          <a:prstGeom prst="rect">
            <a:avLst/>
          </a:prstGeom>
        </p:spPr>
        <p:txBody>
          <a:bodyPr wrap="square" lIns="0" tIns="0" rIns="0" bIns="0">
            <a:spAutoFit/>
          </a:bodyPr>
          <a:lstStyle/>
          <a:p>
            <a:endParaRPr/>
          </a:p>
        </p:txBody>
      </p:sp>
      <p:sp>
        <p:nvSpPr>
          <p:cNvPr id="1048622" name="Holder 4"/>
          <p:cNvSpPr>
            <a:spLocks noGrp="1"/>
          </p:cNvSpPr>
          <p:nvPr>
            <p:ph sz="half" idx="3"/>
          </p:nvPr>
        </p:nvSpPr>
        <p:spPr>
          <a:xfrm>
            <a:off x="4709160" y="1183005"/>
            <a:ext cx="3977640" cy="3394710"/>
          </a:xfrm>
          <a:prstGeom prst="rect">
            <a:avLst/>
          </a:prstGeom>
        </p:spPr>
        <p:txBody>
          <a:bodyPr wrap="square" lIns="0" tIns="0" rIns="0" bIns="0">
            <a:spAutoFit/>
          </a:bodyPr>
          <a:lstStyle/>
          <a:p>
            <a:endParaRPr/>
          </a:p>
        </p:txBody>
      </p:sp>
      <p:sp>
        <p:nvSpPr>
          <p:cNvPr id="1048623"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1048624"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4/20/2026</a:t>
            </a:fld>
            <a:endParaRPr lang="en-US"/>
          </a:p>
        </p:txBody>
      </p:sp>
      <p:sp>
        <p:nvSpPr>
          <p:cNvPr id="1048625"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1048591" name="Holder 2"/>
          <p:cNvSpPr>
            <a:spLocks noGrp="1"/>
          </p:cNvSpPr>
          <p:nvPr>
            <p:ph type="title"/>
          </p:nvPr>
        </p:nvSpPr>
        <p:spPr/>
        <p:txBody>
          <a:bodyPr lIns="0" tIns="0" rIns="0" bIns="0"/>
          <a:lstStyle>
            <a:lvl1pPr>
              <a:defRPr sz="3000" b="1" i="0">
                <a:solidFill>
                  <a:srgbClr val="1F487C"/>
                </a:solidFill>
                <a:latin typeface="Calibri"/>
                <a:cs typeface="Calibri"/>
              </a:defRPr>
            </a:lvl1pPr>
          </a:lstStyle>
          <a:p>
            <a:endParaRPr/>
          </a:p>
        </p:txBody>
      </p:sp>
      <p:sp>
        <p:nvSpPr>
          <p:cNvPr id="1048592"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1048593"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4/20/2026</a:t>
            </a:fld>
            <a:endParaRPr lang="en-US"/>
          </a:p>
        </p:txBody>
      </p:sp>
      <p:sp>
        <p:nvSpPr>
          <p:cNvPr id="1048594"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1048626"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1048627"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4/20/2026</a:t>
            </a:fld>
            <a:endParaRPr lang="en-US"/>
          </a:p>
        </p:txBody>
      </p:sp>
      <p:sp>
        <p:nvSpPr>
          <p:cNvPr id="1048628"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097152" name="bg object 16"/>
          <p:cNvPicPr>
            <a:picLocks/>
          </p:cNvPicPr>
          <p:nvPr/>
        </p:nvPicPr>
        <p:blipFill>
          <a:blip r:embed="rId7" cstate="print"/>
          <a:stretch>
            <a:fillRect/>
          </a:stretch>
        </p:blipFill>
        <p:spPr>
          <a:xfrm>
            <a:off x="0" y="0"/>
            <a:ext cx="9144000" cy="5143499"/>
          </a:xfrm>
          <a:prstGeom prst="rect">
            <a:avLst/>
          </a:prstGeom>
        </p:spPr>
      </p:pic>
      <p:sp>
        <p:nvSpPr>
          <p:cNvPr id="1048576" name="Holder 2"/>
          <p:cNvSpPr>
            <a:spLocks noGrp="1"/>
          </p:cNvSpPr>
          <p:nvPr>
            <p:ph type="title"/>
          </p:nvPr>
        </p:nvSpPr>
        <p:spPr>
          <a:xfrm>
            <a:off x="535940" y="480440"/>
            <a:ext cx="1069975" cy="482600"/>
          </a:xfrm>
          <a:prstGeom prst="rect">
            <a:avLst/>
          </a:prstGeom>
        </p:spPr>
        <p:txBody>
          <a:bodyPr wrap="square" lIns="0" tIns="0" rIns="0" bIns="0">
            <a:spAutoFit/>
          </a:bodyPr>
          <a:lstStyle>
            <a:lvl1pPr>
              <a:defRPr sz="3000" b="1" i="0">
                <a:solidFill>
                  <a:srgbClr val="1F487C"/>
                </a:solidFill>
                <a:latin typeface="Calibri"/>
                <a:cs typeface="Calibri"/>
              </a:defRPr>
            </a:lvl1pPr>
          </a:lstStyle>
          <a:p>
            <a:endParaRPr/>
          </a:p>
        </p:txBody>
      </p:sp>
      <p:sp>
        <p:nvSpPr>
          <p:cNvPr id="1048577" name="Holder 3"/>
          <p:cNvSpPr>
            <a:spLocks noGrp="1"/>
          </p:cNvSpPr>
          <p:nvPr>
            <p:ph type="body" idx="1"/>
          </p:nvPr>
        </p:nvSpPr>
        <p:spPr>
          <a:xfrm>
            <a:off x="1636648" y="1350899"/>
            <a:ext cx="5448934" cy="3084829"/>
          </a:xfrm>
          <a:prstGeom prst="rect">
            <a:avLst/>
          </a:prstGeom>
        </p:spPr>
        <p:txBody>
          <a:bodyPr wrap="square" lIns="0" tIns="0" rIns="0" bIns="0">
            <a:spAutoFit/>
          </a:bodyPr>
          <a:lstStyle>
            <a:lvl1pPr>
              <a:defRPr sz="4400" b="1" i="0">
                <a:solidFill>
                  <a:srgbClr val="1F487C"/>
                </a:solidFill>
                <a:latin typeface="Cambria"/>
                <a:cs typeface="Cambria"/>
              </a:defRPr>
            </a:lvl1pPr>
          </a:lstStyle>
          <a:p>
            <a:endParaRPr/>
          </a:p>
        </p:txBody>
      </p:sp>
      <p:sp>
        <p:nvSpPr>
          <p:cNvPr id="1048578" name="Holder 4"/>
          <p:cNvSpPr>
            <a:spLocks noGrp="1"/>
          </p:cNvSpPr>
          <p:nvPr>
            <p:ph type="ftr" sz="quarter" idx="5"/>
          </p:nvPr>
        </p:nvSpPr>
        <p:spPr>
          <a:xfrm>
            <a:off x="3108960" y="4783455"/>
            <a:ext cx="2926080" cy="257175"/>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1048579" name="Holder 5"/>
          <p:cNvSpPr>
            <a:spLocks noGrp="1"/>
          </p:cNvSpPr>
          <p:nvPr>
            <p:ph type="dt" sz="half" idx="6"/>
          </p:nvPr>
        </p:nvSpPr>
        <p:spPr>
          <a:xfrm>
            <a:off x="457200" y="4783455"/>
            <a:ext cx="2103120" cy="257175"/>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pPr/>
              <a:t>4/20/2026</a:t>
            </a:fld>
            <a:endParaRPr lang="en-US"/>
          </a:p>
        </p:txBody>
      </p:sp>
      <p:sp>
        <p:nvSpPr>
          <p:cNvPr id="1048580" name="Holder 6"/>
          <p:cNvSpPr>
            <a:spLocks noGrp="1"/>
          </p:cNvSpPr>
          <p:nvPr>
            <p:ph type="sldNum" sz="quarter" idx="7"/>
          </p:nvPr>
        </p:nvSpPr>
        <p:spPr>
          <a:xfrm>
            <a:off x="6583680" y="4783455"/>
            <a:ext cx="2103120" cy="257175"/>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pPr/>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097153" name="object 2"/>
          <p:cNvPicPr>
            <a:picLocks/>
          </p:cNvPicPr>
          <p:nvPr/>
        </p:nvPicPr>
        <p:blipFill>
          <a:blip r:embed="rId2" cstate="print"/>
          <a:stretch>
            <a:fillRect/>
          </a:stretch>
        </p:blipFill>
        <p:spPr>
          <a:xfrm>
            <a:off x="0" y="0"/>
            <a:ext cx="9144000" cy="5143499"/>
          </a:xfrm>
          <a:prstGeom prst="rect">
            <a:avLst/>
          </a:prstGeom>
        </p:spPr>
      </p:pic>
      <p:sp>
        <p:nvSpPr>
          <p:cNvPr id="1048586" name="object 3"/>
          <p:cNvSpPr txBox="1">
            <a:spLocks noGrp="1"/>
          </p:cNvSpPr>
          <p:nvPr>
            <p:ph type="body" idx="1"/>
          </p:nvPr>
        </p:nvSpPr>
        <p:spPr>
          <a:xfrm>
            <a:off x="502920" y="1657350"/>
            <a:ext cx="8000999" cy="759900"/>
          </a:xfrm>
          <a:prstGeom prst="rect">
            <a:avLst/>
          </a:prstGeom>
        </p:spPr>
        <p:txBody>
          <a:bodyPr vert="horz" wrap="square" lIns="0" tIns="142951" rIns="0" bIns="0" rtlCol="0">
            <a:spAutoFit/>
          </a:bodyPr>
          <a:lstStyle/>
          <a:p>
            <a:pPr algn="ctr" rtl="0"/>
            <a:r>
              <a:rPr lang="en-IN" sz="2000" dirty="0">
                <a:latin typeface="Times New Roman" panose="02020603050405020304" pitchFamily="18" charset="0"/>
                <a:cs typeface="Times New Roman" panose="02020603050405020304" pitchFamily="18" charset="0"/>
              </a:rPr>
              <a:t>ANALYSIS OF OZONE LAYER DEPLETION OVER </a:t>
            </a:r>
          </a:p>
          <a:p>
            <a:pPr algn="ctr" rtl="0"/>
            <a:r>
              <a:rPr lang="en-IN" sz="2000" dirty="0">
                <a:latin typeface="Times New Roman" panose="02020603050405020304" pitchFamily="18" charset="0"/>
                <a:cs typeface="Times New Roman" panose="02020603050405020304" pitchFamily="18" charset="0"/>
              </a:rPr>
              <a:t>INDUSTRIAL REGIONS IN INDIA</a:t>
            </a:r>
            <a:endParaRPr lang="en-IN" sz="2000" dirty="0">
              <a:effectLst/>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71AF1AA8-977E-53A4-BD2F-0A8F93958BDB}"/>
              </a:ext>
            </a:extLst>
          </p:cNvPr>
          <p:cNvSpPr txBox="1"/>
          <p:nvPr/>
        </p:nvSpPr>
        <p:spPr>
          <a:xfrm>
            <a:off x="6019800" y="3638550"/>
            <a:ext cx="2819398" cy="1049005"/>
          </a:xfrm>
          <a:prstGeom prst="rect">
            <a:avLst/>
          </a:prstGeom>
          <a:noFill/>
        </p:spPr>
        <p:txBody>
          <a:bodyPr wrap="square" rtlCol="0">
            <a:spAutoFit/>
          </a:bodyPr>
          <a:lstStyle/>
          <a:p>
            <a:pPr marL="12700">
              <a:lnSpc>
                <a:spcPts val="1315"/>
              </a:lnSpc>
              <a:spcBef>
                <a:spcPts val="100"/>
              </a:spcBef>
            </a:pPr>
            <a:r>
              <a:rPr lang="en-IN" sz="1200" b="1" u="sng" dirty="0">
                <a:uFill>
                  <a:solidFill>
                    <a:srgbClr val="000000"/>
                  </a:solidFill>
                </a:uFill>
                <a:latin typeface="Times New Roman" panose="02020603050405020304" pitchFamily="18" charset="0"/>
                <a:cs typeface="Times New Roman" panose="02020603050405020304" pitchFamily="18" charset="0"/>
              </a:rPr>
              <a:t>Presented</a:t>
            </a:r>
            <a:r>
              <a:rPr lang="en-IN" sz="1200" b="1" u="sng" spc="-50" dirty="0">
                <a:uFill>
                  <a:solidFill>
                    <a:srgbClr val="000000"/>
                  </a:solidFill>
                </a:uFill>
                <a:latin typeface="Times New Roman" panose="02020603050405020304" pitchFamily="18" charset="0"/>
                <a:cs typeface="Times New Roman" panose="02020603050405020304" pitchFamily="18" charset="0"/>
              </a:rPr>
              <a:t> </a:t>
            </a:r>
            <a:r>
              <a:rPr lang="en-IN" sz="1200" b="1" u="sng" spc="-5" dirty="0">
                <a:uFill>
                  <a:solidFill>
                    <a:srgbClr val="000000"/>
                  </a:solidFill>
                </a:uFill>
                <a:latin typeface="Times New Roman" panose="02020603050405020304" pitchFamily="18" charset="0"/>
                <a:cs typeface="Times New Roman" panose="02020603050405020304" pitchFamily="18" charset="0"/>
              </a:rPr>
              <a:t>By</a:t>
            </a:r>
            <a:r>
              <a:rPr lang="en-IN" sz="1200" spc="-5" dirty="0">
                <a:uFill>
                  <a:solidFill>
                    <a:srgbClr val="000000"/>
                  </a:solidFill>
                </a:uFill>
                <a:latin typeface="Times New Roman" panose="02020603050405020304" pitchFamily="18" charset="0"/>
                <a:cs typeface="Times New Roman" panose="02020603050405020304" pitchFamily="18" charset="0"/>
              </a:rPr>
              <a:t>:  Batch-52</a:t>
            </a:r>
          </a:p>
          <a:p>
            <a:pPr marL="12700">
              <a:spcBef>
                <a:spcPts val="100"/>
              </a:spcBef>
            </a:pPr>
            <a:r>
              <a:rPr lang="en-IN" sz="1200" dirty="0">
                <a:solidFill>
                  <a:srgbClr val="000000"/>
                </a:solidFill>
                <a:latin typeface="Times New Roman" panose="02020603050405020304" pitchFamily="18" charset="0"/>
                <a:cs typeface="Times New Roman" panose="02020603050405020304" pitchFamily="18" charset="0"/>
              </a:rPr>
              <a:t>K. Padmaja</a:t>
            </a:r>
            <a:r>
              <a:rPr lang="en-IN" sz="1200" spc="-5" dirty="0">
                <a:solidFill>
                  <a:srgbClr val="000000"/>
                </a:solidFill>
                <a:uFill>
                  <a:solidFill>
                    <a:srgbClr val="000000"/>
                  </a:solidFill>
                </a:uFill>
                <a:latin typeface="Times New Roman" panose="02020603050405020304" pitchFamily="18" charset="0"/>
                <a:cs typeface="Times New Roman" panose="02020603050405020304" pitchFamily="18" charset="0"/>
              </a:rPr>
              <a:t> 	        </a:t>
            </a:r>
            <a:r>
              <a:rPr lang="en-IN" sz="1200" spc="-5" dirty="0">
                <a:uFill>
                  <a:solidFill>
                    <a:srgbClr val="000000"/>
                  </a:solidFill>
                </a:uFill>
                <a:latin typeface="Times New Roman" panose="02020603050405020304" pitchFamily="18" charset="0"/>
                <a:cs typeface="Times New Roman" panose="02020603050405020304" pitchFamily="18" charset="0"/>
              </a:rPr>
              <a:t>-  23555A0507 </a:t>
            </a:r>
          </a:p>
          <a:p>
            <a:pPr marL="12700">
              <a:spcBef>
                <a:spcPts val="100"/>
              </a:spcBef>
            </a:pPr>
            <a:r>
              <a:rPr lang="en-IN" sz="1200" spc="-5" dirty="0">
                <a:uFill>
                  <a:solidFill>
                    <a:srgbClr val="000000"/>
                  </a:solidFill>
                </a:uFill>
                <a:latin typeface="Times New Roman" panose="02020603050405020304" pitchFamily="18" charset="0"/>
                <a:cs typeface="Times New Roman" panose="02020603050405020304" pitchFamily="18" charset="0"/>
              </a:rPr>
              <a:t>Y. Tanmai Sairam   -  22551A05J8  </a:t>
            </a:r>
          </a:p>
          <a:p>
            <a:pPr marL="12700">
              <a:spcBef>
                <a:spcPts val="100"/>
              </a:spcBef>
            </a:pPr>
            <a:r>
              <a:rPr lang="en-US" sz="1200" dirty="0">
                <a:solidFill>
                  <a:srgbClr val="000000"/>
                </a:solidFill>
                <a:latin typeface="Times New Roman" panose="02020603050405020304" pitchFamily="18" charset="0"/>
                <a:cs typeface="Times New Roman" panose="02020603050405020304" pitchFamily="18" charset="0"/>
              </a:rPr>
              <a:t>P. Nagesh Varma</a:t>
            </a:r>
            <a:r>
              <a:rPr lang="en-US" sz="1200" dirty="0">
                <a:latin typeface="Times New Roman" panose="02020603050405020304" pitchFamily="18" charset="0"/>
                <a:cs typeface="Times New Roman" panose="02020603050405020304" pitchFamily="18" charset="0"/>
              </a:rPr>
              <a:t>    -  </a:t>
            </a:r>
            <a:r>
              <a:rPr lang="en-IN" sz="1200" spc="-5" dirty="0">
                <a:uFill>
                  <a:solidFill>
                    <a:srgbClr val="000000"/>
                  </a:solidFill>
                </a:uFill>
                <a:latin typeface="Times New Roman" panose="02020603050405020304" pitchFamily="18" charset="0"/>
                <a:cs typeface="Times New Roman" panose="02020603050405020304" pitchFamily="18" charset="0"/>
              </a:rPr>
              <a:t>23555A0512 </a:t>
            </a:r>
          </a:p>
          <a:p>
            <a:pPr marL="12700">
              <a:spcBef>
                <a:spcPts val="100"/>
              </a:spcBef>
            </a:pPr>
            <a:r>
              <a:rPr lang="en-US" sz="1200" dirty="0">
                <a:latin typeface="Times New Roman" panose="02020603050405020304" pitchFamily="18" charset="0"/>
                <a:cs typeface="Times New Roman" panose="02020603050405020304" pitchFamily="18" charset="0"/>
              </a:rPr>
              <a:t>Dept. of CSE</a:t>
            </a:r>
          </a:p>
        </p:txBody>
      </p:sp>
      <p:sp>
        <p:nvSpPr>
          <p:cNvPr id="3" name="TextBox 2">
            <a:extLst>
              <a:ext uri="{FF2B5EF4-FFF2-40B4-BE49-F238E27FC236}">
                <a16:creationId xmlns:a16="http://schemas.microsoft.com/office/drawing/2014/main" id="{8F67292A-62E0-D957-F789-530BB3177CAF}"/>
              </a:ext>
            </a:extLst>
          </p:cNvPr>
          <p:cNvSpPr txBox="1"/>
          <p:nvPr/>
        </p:nvSpPr>
        <p:spPr>
          <a:xfrm>
            <a:off x="533400" y="4241458"/>
            <a:ext cx="2926080" cy="1015663"/>
          </a:xfrm>
          <a:prstGeom prst="rect">
            <a:avLst/>
          </a:prstGeom>
          <a:noFill/>
        </p:spPr>
        <p:txBody>
          <a:bodyPr wrap="square" rtlCol="0">
            <a:spAutoFit/>
          </a:bodyPr>
          <a:lstStyle/>
          <a:p>
            <a:r>
              <a:rPr lang="en-US" sz="1200" u="sng" dirty="0">
                <a:latin typeface="Times New Roman" panose="02020603050405020304" pitchFamily="18" charset="0"/>
                <a:cs typeface="Times New Roman" panose="02020603050405020304" pitchFamily="18" charset="0"/>
              </a:rPr>
              <a:t>Supervisor:</a:t>
            </a:r>
            <a:endParaRPr lang="en-US" sz="1200" dirty="0">
              <a:latin typeface="Times New Roman" panose="02020603050405020304" pitchFamily="18" charset="0"/>
              <a:cs typeface="Times New Roman" panose="02020603050405020304" pitchFamily="18" charset="0"/>
            </a:endParaRPr>
          </a:p>
          <a:p>
            <a:r>
              <a:rPr lang="en-IN" sz="1200" dirty="0">
                <a:latin typeface="Times New Roman" panose="02020603050405020304" pitchFamily="18" charset="0"/>
                <a:cs typeface="Times New Roman" panose="02020603050405020304" pitchFamily="18" charset="0"/>
              </a:rPr>
              <a:t>Mr. T. Sridhar Reddy </a:t>
            </a:r>
          </a:p>
          <a:p>
            <a:r>
              <a:rPr lang="en-US" sz="1200" dirty="0">
                <a:latin typeface="Times New Roman" panose="02020603050405020304" pitchFamily="18" charset="0"/>
                <a:cs typeface="Times New Roman" panose="02020603050405020304" pitchFamily="18" charset="0"/>
              </a:rPr>
              <a:t>Assistant Professor</a:t>
            </a:r>
          </a:p>
          <a:p>
            <a:r>
              <a:rPr lang="en-US" sz="1200" dirty="0">
                <a:latin typeface="Times New Roman" panose="02020603050405020304" pitchFamily="18" charset="0"/>
                <a:cs typeface="Times New Roman" panose="02020603050405020304" pitchFamily="18" charset="0"/>
              </a:rPr>
              <a:t>Dept. of CSE</a:t>
            </a:r>
            <a:r>
              <a:rPr lang="en-IN" sz="1200" dirty="0">
                <a:solidFill>
                  <a:srgbClr val="000000"/>
                </a:solidFill>
                <a:latin typeface="Times New Roman" panose="02020603050405020304" pitchFamily="18" charset="0"/>
                <a:cs typeface="Times New Roman" panose="02020603050405020304" pitchFamily="18" charset="0"/>
              </a:rPr>
              <a:t>, GIET(A)</a:t>
            </a:r>
            <a:endParaRPr lang="en-IN" sz="1200" dirty="0">
              <a:latin typeface="Times New Roman" panose="02020603050405020304" pitchFamily="18" charset="0"/>
              <a:cs typeface="Times New Roman" panose="02020603050405020304" pitchFamily="18" charset="0"/>
            </a:endParaRPr>
          </a:p>
          <a:p>
            <a:endParaRPr lang="en-IN" sz="1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0" name="Text Placeholder 3"/>
          <p:cNvSpPr>
            <a:spLocks noGrp="1"/>
          </p:cNvSpPr>
          <p:nvPr>
            <p:ph type="body" idx="1"/>
          </p:nvPr>
        </p:nvSpPr>
        <p:spPr>
          <a:xfrm>
            <a:off x="1143000" y="1058192"/>
            <a:ext cx="6324600" cy="1196738"/>
          </a:xfrm>
        </p:spPr>
        <p:txBody>
          <a:bodyPr/>
          <a:lstStyle/>
          <a:p>
            <a:pPr algn="l">
              <a:lnSpc>
                <a:spcPct val="150000"/>
              </a:lnSpc>
              <a:defRPr sz="1600" b="0">
                <a:solidFill>
                  <a:srgbClr val="000000"/>
                </a:solidFill>
              </a:defRPr>
            </a:pPr>
            <a:endParaRPr lang="en-IN" sz="1800" dirty="0">
              <a:latin typeface="Times New Roman" panose="02020603050405020304" pitchFamily="18" charset="0"/>
              <a:cs typeface="Times New Roman" panose="02020603050405020304" pitchFamily="18" charset="0"/>
            </a:endParaRPr>
          </a:p>
          <a:p>
            <a:pPr algn="l">
              <a:lnSpc>
                <a:spcPct val="150000"/>
              </a:lnSpc>
              <a:defRPr sz="1600" b="0">
                <a:solidFill>
                  <a:srgbClr val="000000"/>
                </a:solidFill>
              </a:defRPr>
            </a:pPr>
            <a:endParaRPr sz="1800" dirty="0">
              <a:latin typeface="Times New Roman" panose="02020603050405020304" pitchFamily="18" charset="0"/>
              <a:cs typeface="Times New Roman" panose="02020603050405020304" pitchFamily="18" charset="0"/>
            </a:endParaRPr>
          </a:p>
          <a:p>
            <a:pPr marL="285750" indent="-285750" algn="l">
              <a:lnSpc>
                <a:spcPct val="150000"/>
              </a:lnSpc>
              <a:buFont typeface="Wingdings" panose="05000000000000000000" pitchFamily="2" charset="2"/>
              <a:buChar char="q"/>
              <a:defRPr sz="1600" b="0">
                <a:solidFill>
                  <a:srgbClr val="000000"/>
                </a:solidFill>
              </a:defRPr>
            </a:pPr>
            <a:endParaRPr sz="1800"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7C8D0554-55A7-F4E9-593C-6D38E5D5D793}"/>
              </a:ext>
            </a:extLst>
          </p:cNvPr>
          <p:cNvSpPr txBox="1"/>
          <p:nvPr/>
        </p:nvSpPr>
        <p:spPr>
          <a:xfrm>
            <a:off x="3276600" y="658082"/>
            <a:ext cx="2590800" cy="400110"/>
          </a:xfrm>
          <a:prstGeom prst="rect">
            <a:avLst/>
          </a:prstGeom>
          <a:noFill/>
        </p:spPr>
        <p:txBody>
          <a:bodyPr wrap="square" rtlCol="0">
            <a:spAutoFit/>
          </a:bodyPr>
          <a:lstStyle/>
          <a:p>
            <a:pPr algn="ctr"/>
            <a:r>
              <a:rPr lang="en-IN" sz="2000" b="1" spc="-5" dirty="0">
                <a:latin typeface="Times New Roman" panose="02020603050405020304" pitchFamily="18" charset="0"/>
                <a:cs typeface="Times New Roman" panose="02020603050405020304" pitchFamily="18" charset="0"/>
              </a:rPr>
              <a:t>C</a:t>
            </a:r>
            <a:r>
              <a:rPr lang="en-IN" sz="2000" b="1" spc="-15" dirty="0">
                <a:latin typeface="Times New Roman" panose="02020603050405020304" pitchFamily="18" charset="0"/>
                <a:cs typeface="Times New Roman" panose="02020603050405020304" pitchFamily="18" charset="0"/>
              </a:rPr>
              <a:t>O</a:t>
            </a:r>
            <a:r>
              <a:rPr lang="en-IN" sz="2000" b="1" spc="-5" dirty="0">
                <a:latin typeface="Times New Roman" panose="02020603050405020304" pitchFamily="18" charset="0"/>
                <a:cs typeface="Times New Roman" panose="02020603050405020304" pitchFamily="18" charset="0"/>
              </a:rPr>
              <a:t>NTE</a:t>
            </a:r>
            <a:r>
              <a:rPr lang="en-IN" sz="2000" b="1" spc="-30" dirty="0">
                <a:latin typeface="Times New Roman" panose="02020603050405020304" pitchFamily="18" charset="0"/>
                <a:cs typeface="Times New Roman" panose="02020603050405020304" pitchFamily="18" charset="0"/>
              </a:rPr>
              <a:t>N</a:t>
            </a:r>
            <a:r>
              <a:rPr lang="en-IN" sz="2000" b="1" dirty="0">
                <a:latin typeface="Times New Roman" panose="02020603050405020304" pitchFamily="18" charset="0"/>
                <a:cs typeface="Times New Roman" panose="02020603050405020304" pitchFamily="18" charset="0"/>
              </a:rPr>
              <a:t>TS</a:t>
            </a:r>
            <a:endParaRPr lang="en-IN" sz="2000" b="1" dirty="0"/>
          </a:p>
        </p:txBody>
      </p:sp>
      <p:sp>
        <p:nvSpPr>
          <p:cNvPr id="3" name="TextBox 2">
            <a:extLst>
              <a:ext uri="{FF2B5EF4-FFF2-40B4-BE49-F238E27FC236}">
                <a16:creationId xmlns:a16="http://schemas.microsoft.com/office/drawing/2014/main" id="{C2C9630E-222B-A4A6-8F38-7E3AAAA4EDAA}"/>
              </a:ext>
            </a:extLst>
          </p:cNvPr>
          <p:cNvSpPr txBox="1"/>
          <p:nvPr/>
        </p:nvSpPr>
        <p:spPr>
          <a:xfrm>
            <a:off x="1447800" y="1450587"/>
            <a:ext cx="3429000" cy="3050194"/>
          </a:xfrm>
          <a:prstGeom prst="rect">
            <a:avLst/>
          </a:prstGeom>
          <a:noFill/>
        </p:spPr>
        <p:txBody>
          <a:bodyPr wrap="square" rtlCol="0" anchor="ctr">
            <a:spAutoFit/>
          </a:bodyPr>
          <a:lstStyle/>
          <a:p>
            <a:pPr marL="342900" indent="-342900">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Introduction</a:t>
            </a:r>
          </a:p>
          <a:p>
            <a:pPr marL="342900" indent="-342900">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Abstract</a:t>
            </a:r>
          </a:p>
          <a:p>
            <a:pPr marL="342900" indent="-342900">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Problem Statement</a:t>
            </a:r>
          </a:p>
          <a:p>
            <a:pPr marL="342900" indent="-342900">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Literature Survey</a:t>
            </a:r>
          </a:p>
          <a:p>
            <a:pPr marL="342900" indent="-342900">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Existing System</a:t>
            </a:r>
          </a:p>
          <a:p>
            <a:pPr marL="342900" indent="-342900">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Proposed System</a:t>
            </a:r>
          </a:p>
          <a:p>
            <a:pPr marL="342900" indent="-342900">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System Architecture</a:t>
            </a:r>
          </a:p>
          <a:p>
            <a:pPr marL="342900" indent="-342900">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Development of the Project</a:t>
            </a:r>
          </a:p>
          <a:p>
            <a:pPr marL="342900" indent="-342900">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Technology Stack</a:t>
            </a:r>
          </a:p>
          <a:p>
            <a:pPr marL="342900" indent="-342900">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Results</a:t>
            </a:r>
          </a:p>
          <a:p>
            <a:pPr marL="342900" indent="-342900">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Conclusion</a:t>
            </a:r>
          </a:p>
          <a:p>
            <a:pPr marL="342900" indent="-342900">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Future Scope</a:t>
            </a:r>
          </a:p>
          <a:p>
            <a:pPr>
              <a:lnSpc>
                <a:spcPct val="150000"/>
              </a:lnSpc>
            </a:pPr>
            <a:endParaRPr lang="en-I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E22E261-722E-8D4C-F0D6-B26F0DE26B55}"/>
              </a:ext>
            </a:extLst>
          </p:cNvPr>
          <p:cNvSpPr txBox="1"/>
          <p:nvPr/>
        </p:nvSpPr>
        <p:spPr>
          <a:xfrm>
            <a:off x="2895600" y="613410"/>
            <a:ext cx="2895600" cy="400110"/>
          </a:xfrm>
          <a:prstGeom prst="rect">
            <a:avLst/>
          </a:prstGeom>
          <a:noFill/>
        </p:spPr>
        <p:txBody>
          <a:bodyPr wrap="square" rtlCol="0">
            <a:spAutoFit/>
          </a:bodyPr>
          <a:lstStyle/>
          <a:p>
            <a:pPr algn="ctr"/>
            <a:r>
              <a:rPr lang="en-IN" sz="2000" b="1" dirty="0">
                <a:latin typeface="Times New Roman" panose="02020603050405020304" pitchFamily="18" charset="0"/>
                <a:cs typeface="Times New Roman" panose="02020603050405020304" pitchFamily="18" charset="0"/>
              </a:rPr>
              <a:t>INTRODUCTION</a:t>
            </a:r>
          </a:p>
        </p:txBody>
      </p:sp>
      <p:sp>
        <p:nvSpPr>
          <p:cNvPr id="7" name="Rectangle 2">
            <a:extLst>
              <a:ext uri="{FF2B5EF4-FFF2-40B4-BE49-F238E27FC236}">
                <a16:creationId xmlns:a16="http://schemas.microsoft.com/office/drawing/2014/main" id="{2A3F86FD-2003-9984-95C8-53338D5634EF}"/>
              </a:ext>
            </a:extLst>
          </p:cNvPr>
          <p:cNvSpPr>
            <a:spLocks noChangeArrowheads="1"/>
          </p:cNvSpPr>
          <p:nvPr/>
        </p:nvSpPr>
        <p:spPr bwMode="auto">
          <a:xfrm>
            <a:off x="914400" y="1165652"/>
            <a:ext cx="7467600" cy="32932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just" eaLnBrk="0" fontAlgn="base" hangingPunct="0">
              <a:spcBef>
                <a:spcPct val="0"/>
              </a:spcBef>
              <a:spcAft>
                <a:spcPct val="0"/>
              </a:spcAft>
            </a:pPr>
            <a:r>
              <a:rPr lang="en-US" sz="1600" dirty="0">
                <a:latin typeface="Times New Roman" panose="02020603050405020304" pitchFamily="18" charset="0"/>
                <a:cs typeface="Times New Roman" panose="02020603050405020304" pitchFamily="18" charset="0"/>
              </a:rPr>
              <a:t>This project, “Analysis of Ozone Layer Depletion over Industrial Regions in India”, looks at how pollution from industries is affecting the ozone layer, which protects us from harmful UV rays. Even though global efforts like the Montreal Protocol have reduced some emissions, India’s fast-growing industries still release gases such as CFCs, NOx, and VOCs that damage the ozone. The study focuses on major industrial areas like Delhi NCR, Gujarat, and the Odisha-Jharkhand coal belt. It uses satellite data (NASA OMI, Sentinel-5P), ground monitoring (CPCB), and climate records (ERA5) along with statistical tools and machine learning models like Linear Regression, ARIMA, and LSTM. The goal is to forecast ozone changes between 2022 and 2025, understand the role of seasonal and climate factors, and show clear visual results through graphs and heatmaps. The outcome is a predictive system that can help policymakers, researchers, and environmental agencies take better steps to control emissions, protect public health, and support agriculture.</a:t>
            </a: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768671-25A2-8C05-EEE5-3EBA186FF91F}"/>
              </a:ext>
            </a:extLst>
          </p:cNvPr>
          <p:cNvSpPr>
            <a:spLocks noGrp="1"/>
          </p:cNvSpPr>
          <p:nvPr>
            <p:ph type="title"/>
          </p:nvPr>
        </p:nvSpPr>
        <p:spPr>
          <a:xfrm>
            <a:off x="3657600" y="689074"/>
            <a:ext cx="1447800" cy="358676"/>
          </a:xfrm>
        </p:spPr>
        <p:txBody>
          <a:bodyPr/>
          <a:lstStyle/>
          <a:p>
            <a:pPr algn="ctr"/>
            <a:r>
              <a:rPr lang="en-US" sz="2000" dirty="0">
                <a:solidFill>
                  <a:schemeClr val="tx1"/>
                </a:solidFill>
                <a:latin typeface="Times New Roman" panose="02020603050405020304" pitchFamily="18" charset="0"/>
                <a:cs typeface="Times New Roman" panose="02020603050405020304" pitchFamily="18" charset="0"/>
              </a:rPr>
              <a:t>ABSTRACT</a:t>
            </a:r>
            <a:br>
              <a:rPr lang="en-US" sz="2000" dirty="0">
                <a:solidFill>
                  <a:schemeClr val="tx1"/>
                </a:solidFill>
                <a:latin typeface="Times New Roman" panose="02020603050405020304" pitchFamily="18" charset="0"/>
                <a:cs typeface="Times New Roman" panose="02020603050405020304" pitchFamily="18" charset="0"/>
              </a:rPr>
            </a:br>
            <a:endParaRPr lang="en-IN" sz="2000" dirty="0"/>
          </a:p>
        </p:txBody>
      </p:sp>
      <p:sp>
        <p:nvSpPr>
          <p:cNvPr id="3" name="Text Placeholder 2">
            <a:extLst>
              <a:ext uri="{FF2B5EF4-FFF2-40B4-BE49-F238E27FC236}">
                <a16:creationId xmlns:a16="http://schemas.microsoft.com/office/drawing/2014/main" id="{CEB82A02-CD1B-AD12-6457-B9AAFFB3DEA6}"/>
              </a:ext>
            </a:extLst>
          </p:cNvPr>
          <p:cNvSpPr>
            <a:spLocks noGrp="1"/>
          </p:cNvSpPr>
          <p:nvPr>
            <p:ph type="body" idx="1"/>
          </p:nvPr>
        </p:nvSpPr>
        <p:spPr>
          <a:xfrm>
            <a:off x="800100" y="1352550"/>
            <a:ext cx="7543800" cy="1723549"/>
          </a:xfrm>
        </p:spPr>
        <p:txBody>
          <a:bodyPr/>
          <a:lstStyle/>
          <a:p>
            <a:pPr algn="just"/>
            <a:r>
              <a:rPr lang="en-US" sz="1600" b="0" dirty="0">
                <a:solidFill>
                  <a:schemeClr val="tx1"/>
                </a:solidFill>
                <a:latin typeface="Times New Roman" panose="02020603050405020304" pitchFamily="18" charset="0"/>
                <a:cs typeface="Times New Roman" panose="02020603050405020304" pitchFamily="18" charset="0"/>
              </a:rPr>
              <a:t>This project analyzes ozone layer depletion in an industrial region of India from 2022 to 2025 by examining variations in chlorofluorocarbon (CFC) emissions. Using machine learning models such as Linear Regression, ARIMA, and LSTM, it forecasts ozone concentration and explores the correlation between industrial activity and ozone thinning. Through time-series graphs and spatial heatmaps, the study highlights environmental risks of rising emissions while providing predictive insights to support sustainable policies and climate change mitigation.</a:t>
            </a:r>
          </a:p>
        </p:txBody>
      </p:sp>
      <p:sp>
        <p:nvSpPr>
          <p:cNvPr id="4" name="TextBox 3">
            <a:extLst>
              <a:ext uri="{FF2B5EF4-FFF2-40B4-BE49-F238E27FC236}">
                <a16:creationId xmlns:a16="http://schemas.microsoft.com/office/drawing/2014/main" id="{3634E56C-A44E-8F79-C3FC-564928DE694D}"/>
              </a:ext>
            </a:extLst>
          </p:cNvPr>
          <p:cNvSpPr txBox="1"/>
          <p:nvPr/>
        </p:nvSpPr>
        <p:spPr>
          <a:xfrm>
            <a:off x="685800" y="3333750"/>
            <a:ext cx="7429500" cy="584775"/>
          </a:xfrm>
          <a:prstGeom prst="rect">
            <a:avLst/>
          </a:prstGeom>
          <a:noFill/>
        </p:spPr>
        <p:txBody>
          <a:bodyPr wrap="square" rtlCol="0">
            <a:spAutoFit/>
          </a:bodyPr>
          <a:lstStyle/>
          <a:p>
            <a:pPr algn="just"/>
            <a:r>
              <a:rPr lang="en-IN" sz="1600" b="1" dirty="0">
                <a:latin typeface="Times New Roman" panose="02020603050405020304" pitchFamily="18" charset="0"/>
                <a:cs typeface="Times New Roman" panose="02020603050405020304" pitchFamily="18" charset="0"/>
              </a:rPr>
              <a:t>Keywords:</a:t>
            </a:r>
            <a:r>
              <a:rPr lang="en-IN" sz="1600" dirty="0">
                <a:latin typeface="Times New Roman" panose="02020603050405020304" pitchFamily="18" charset="0"/>
                <a:cs typeface="Times New Roman" panose="02020603050405020304" pitchFamily="18" charset="0"/>
              </a:rPr>
              <a:t> Emission Forecasting, Machine Learning, Industrial Emissions, India, Ozone Depletion.</a:t>
            </a:r>
          </a:p>
        </p:txBody>
      </p:sp>
    </p:spTree>
    <p:extLst>
      <p:ext uri="{BB962C8B-B14F-4D97-AF65-F5344CB8AC3E}">
        <p14:creationId xmlns:p14="http://schemas.microsoft.com/office/powerpoint/2010/main" val="31169734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3DED26-93D9-3031-B29A-77BAA2E51047}"/>
              </a:ext>
            </a:extLst>
          </p:cNvPr>
          <p:cNvSpPr>
            <a:spLocks noGrp="1"/>
          </p:cNvSpPr>
          <p:nvPr>
            <p:ph type="title"/>
          </p:nvPr>
        </p:nvSpPr>
        <p:spPr>
          <a:xfrm>
            <a:off x="2571685" y="707772"/>
            <a:ext cx="3578860" cy="769441"/>
          </a:xfrm>
        </p:spPr>
        <p:txBody>
          <a:bodyPr/>
          <a:lstStyle/>
          <a:p>
            <a:pPr algn="ctr"/>
            <a:r>
              <a:rPr lang="en-US" sz="2000" dirty="0">
                <a:solidFill>
                  <a:schemeClr val="tx1"/>
                </a:solidFill>
                <a:latin typeface="Times New Roman" panose="02020603050405020304" pitchFamily="18" charset="0"/>
                <a:cs typeface="Times New Roman" panose="02020603050405020304" pitchFamily="18" charset="0"/>
              </a:rPr>
              <a:t>PROBLEM STATEMENT</a:t>
            </a:r>
            <a:br>
              <a:rPr lang="en-US" sz="3200" dirty="0">
                <a:latin typeface="Times New Roman" panose="02020603050405020304" pitchFamily="18" charset="0"/>
                <a:cs typeface="Times New Roman" panose="02020603050405020304" pitchFamily="18" charset="0"/>
              </a:rPr>
            </a:br>
            <a:endParaRPr lang="en-US" dirty="0"/>
          </a:p>
        </p:txBody>
      </p:sp>
      <p:sp>
        <p:nvSpPr>
          <p:cNvPr id="3" name="Text Placeholder 2">
            <a:extLst>
              <a:ext uri="{FF2B5EF4-FFF2-40B4-BE49-F238E27FC236}">
                <a16:creationId xmlns:a16="http://schemas.microsoft.com/office/drawing/2014/main" id="{D6AEC059-78B0-28FE-C109-EDF0411B13F2}"/>
              </a:ext>
            </a:extLst>
          </p:cNvPr>
          <p:cNvSpPr>
            <a:spLocks noGrp="1"/>
          </p:cNvSpPr>
          <p:nvPr>
            <p:ph type="body" idx="1"/>
          </p:nvPr>
        </p:nvSpPr>
        <p:spPr>
          <a:xfrm>
            <a:off x="952500" y="1698892"/>
            <a:ext cx="7239000" cy="1969770"/>
          </a:xfrm>
        </p:spPr>
        <p:txBody>
          <a:bodyPr/>
          <a:lstStyle/>
          <a:p>
            <a:pPr algn="just"/>
            <a:r>
              <a:rPr lang="en-US" sz="1600" b="0" dirty="0">
                <a:solidFill>
                  <a:schemeClr val="tx1"/>
                </a:solidFill>
                <a:latin typeface="Times New Roman" panose="02020603050405020304" pitchFamily="18" charset="0"/>
                <a:cs typeface="Times New Roman" panose="02020603050405020304" pitchFamily="18" charset="0"/>
              </a:rPr>
              <a:t>The problem is that India’s industrial regions are releasing harmful gases like CFCs, NOx, and VOCs, which weaken the ozone layer and also create dangerous ground-level ozone. Current monitoring systems only show data but cannot predict future changes, and natural climate factors make it harder to separate human impact. Because of this, India lacks a reliable forecasting system to warn about ozone depletion and guide effective policies. This project aims to solve that by using satellite data, ground monitoring, and machine learning models to predict ozone trends and support better decisions.</a:t>
            </a:r>
          </a:p>
        </p:txBody>
      </p:sp>
    </p:spTree>
    <p:extLst>
      <p:ext uri="{BB962C8B-B14F-4D97-AF65-F5344CB8AC3E}">
        <p14:creationId xmlns:p14="http://schemas.microsoft.com/office/powerpoint/2010/main" val="22203421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A92D1C-433B-E277-3ADA-A9AA7447B4D2}"/>
              </a:ext>
            </a:extLst>
          </p:cNvPr>
          <p:cNvSpPr>
            <a:spLocks noGrp="1"/>
          </p:cNvSpPr>
          <p:nvPr>
            <p:ph type="title"/>
          </p:nvPr>
        </p:nvSpPr>
        <p:spPr>
          <a:xfrm>
            <a:off x="2743200" y="742950"/>
            <a:ext cx="3197860" cy="307777"/>
          </a:xfrm>
        </p:spPr>
        <p:txBody>
          <a:bodyPr/>
          <a:lstStyle/>
          <a:p>
            <a:pPr algn="ctr"/>
            <a:r>
              <a:rPr lang="en-IN" sz="2000" dirty="0">
                <a:solidFill>
                  <a:schemeClr val="tx1"/>
                </a:solidFill>
                <a:latin typeface="Times New Roman" panose="02020603050405020304" pitchFamily="18" charset="0"/>
                <a:cs typeface="Times New Roman" panose="02020603050405020304" pitchFamily="18" charset="0"/>
              </a:rPr>
              <a:t>LITERATURE SURVEY</a:t>
            </a:r>
          </a:p>
        </p:txBody>
      </p:sp>
      <p:graphicFrame>
        <p:nvGraphicFramePr>
          <p:cNvPr id="3" name="Table 2">
            <a:extLst>
              <a:ext uri="{FF2B5EF4-FFF2-40B4-BE49-F238E27FC236}">
                <a16:creationId xmlns:a16="http://schemas.microsoft.com/office/drawing/2014/main" id="{145DD1C8-88A7-7927-6D48-FFE6513824C2}"/>
              </a:ext>
            </a:extLst>
          </p:cNvPr>
          <p:cNvGraphicFramePr>
            <a:graphicFrameLocks noGrp="1"/>
          </p:cNvGraphicFramePr>
          <p:nvPr>
            <p:extLst>
              <p:ext uri="{D42A27DB-BD31-4B8C-83A1-F6EECF244321}">
                <p14:modId xmlns:p14="http://schemas.microsoft.com/office/powerpoint/2010/main" val="1351899883"/>
              </p:ext>
            </p:extLst>
          </p:nvPr>
        </p:nvGraphicFramePr>
        <p:xfrm>
          <a:off x="685800" y="1428750"/>
          <a:ext cx="7772400" cy="2865120"/>
        </p:xfrm>
        <a:graphic>
          <a:graphicData uri="http://schemas.openxmlformats.org/drawingml/2006/table">
            <a:tbl>
              <a:tblPr firstRow="1" bandRow="1">
                <a:tableStyleId>{5C22544A-7EE6-4342-B048-85BDC9FD1C3A}</a:tableStyleId>
              </a:tblPr>
              <a:tblGrid>
                <a:gridCol w="685800">
                  <a:extLst>
                    <a:ext uri="{9D8B030D-6E8A-4147-A177-3AD203B41FA5}">
                      <a16:colId xmlns:a16="http://schemas.microsoft.com/office/drawing/2014/main" val="4080816449"/>
                    </a:ext>
                  </a:extLst>
                </a:gridCol>
                <a:gridCol w="1524000">
                  <a:extLst>
                    <a:ext uri="{9D8B030D-6E8A-4147-A177-3AD203B41FA5}">
                      <a16:colId xmlns:a16="http://schemas.microsoft.com/office/drawing/2014/main" val="2994455484"/>
                    </a:ext>
                  </a:extLst>
                </a:gridCol>
                <a:gridCol w="1524000">
                  <a:extLst>
                    <a:ext uri="{9D8B030D-6E8A-4147-A177-3AD203B41FA5}">
                      <a16:colId xmlns:a16="http://schemas.microsoft.com/office/drawing/2014/main" val="246892323"/>
                    </a:ext>
                  </a:extLst>
                </a:gridCol>
                <a:gridCol w="1905000">
                  <a:extLst>
                    <a:ext uri="{9D8B030D-6E8A-4147-A177-3AD203B41FA5}">
                      <a16:colId xmlns:a16="http://schemas.microsoft.com/office/drawing/2014/main" val="836600112"/>
                    </a:ext>
                  </a:extLst>
                </a:gridCol>
                <a:gridCol w="2133600">
                  <a:extLst>
                    <a:ext uri="{9D8B030D-6E8A-4147-A177-3AD203B41FA5}">
                      <a16:colId xmlns:a16="http://schemas.microsoft.com/office/drawing/2014/main" val="2415524525"/>
                    </a:ext>
                  </a:extLst>
                </a:gridCol>
              </a:tblGrid>
              <a:tr h="457200">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IN" sz="1800" dirty="0">
                          <a:latin typeface="Times New Roman" panose="02020603050405020304" pitchFamily="18" charset="0"/>
                          <a:cs typeface="Times New Roman" panose="02020603050405020304" pitchFamily="18" charset="0"/>
                        </a:rPr>
                        <a:t>S.no </a:t>
                      </a:r>
                    </a:p>
                    <a:p>
                      <a:endParaRPr lang="en-IN" dirty="0">
                        <a:latin typeface="Times New Roman" panose="02020603050405020304" pitchFamily="18" charset="0"/>
                        <a:cs typeface="Times New Roman" panose="02020603050405020304" pitchFamily="18" charset="0"/>
                      </a:endParaRPr>
                    </a:p>
                  </a:txBody>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IN" sz="1800" dirty="0">
                          <a:latin typeface="Times New Roman" panose="02020603050405020304" pitchFamily="18" charset="0"/>
                          <a:cs typeface="Times New Roman" panose="02020603050405020304" pitchFamily="18" charset="0"/>
                        </a:rPr>
                        <a:t>Journal Type</a:t>
                      </a:r>
                    </a:p>
                    <a:p>
                      <a:endParaRPr lang="en-IN" dirty="0">
                        <a:latin typeface="Times New Roman" panose="02020603050405020304" pitchFamily="18" charset="0"/>
                        <a:cs typeface="Times New Roman" panose="02020603050405020304" pitchFamily="18" charset="0"/>
                      </a:endParaRPr>
                    </a:p>
                  </a:txBody>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IN" sz="1800" dirty="0">
                          <a:latin typeface="Times New Roman" panose="02020603050405020304" pitchFamily="18" charset="0"/>
                          <a:cs typeface="Times New Roman" panose="02020603050405020304" pitchFamily="18" charset="0"/>
                        </a:rPr>
                        <a:t>Authors</a:t>
                      </a:r>
                    </a:p>
                    <a:p>
                      <a:endParaRPr lang="en-IN" dirty="0">
                        <a:latin typeface="Times New Roman" panose="02020603050405020304" pitchFamily="18" charset="0"/>
                        <a:cs typeface="Times New Roman" panose="02020603050405020304" pitchFamily="18" charset="0"/>
                      </a:endParaRPr>
                    </a:p>
                  </a:txBody>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IN" sz="1800" dirty="0">
                          <a:latin typeface="Times New Roman" panose="02020603050405020304" pitchFamily="18" charset="0"/>
                          <a:cs typeface="Times New Roman" panose="02020603050405020304" pitchFamily="18" charset="0"/>
                        </a:rPr>
                        <a:t>Title</a:t>
                      </a:r>
                    </a:p>
                    <a:p>
                      <a:endParaRPr lang="en-IN" dirty="0">
                        <a:latin typeface="Times New Roman" panose="02020603050405020304" pitchFamily="18" charset="0"/>
                        <a:cs typeface="Times New Roman" panose="02020603050405020304" pitchFamily="18" charset="0"/>
                      </a:endParaRPr>
                    </a:p>
                  </a:txBody>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IN" sz="1800" dirty="0">
                          <a:latin typeface="Times New Roman" panose="02020603050405020304" pitchFamily="18" charset="0"/>
                          <a:cs typeface="Times New Roman" panose="02020603050405020304" pitchFamily="18" charset="0"/>
                        </a:rPr>
                        <a:t>Methodology</a:t>
                      </a:r>
                    </a:p>
                    <a:p>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228366737"/>
                  </a:ext>
                </a:extLst>
              </a:tr>
              <a:tr h="1910567">
                <a:tc>
                  <a:txBody>
                    <a:bodyPr/>
                    <a:lstStyle/>
                    <a:p>
                      <a:pPr algn="just">
                        <a:lnSpc>
                          <a:spcPct val="100000"/>
                        </a:lnSpc>
                      </a:pPr>
                      <a:endParaRPr lang="en-IN" sz="1400" dirty="0">
                        <a:latin typeface="Times New Roman" panose="02020603050405020304" pitchFamily="18" charset="0"/>
                        <a:cs typeface="Times New Roman" panose="02020603050405020304" pitchFamily="18" charset="0"/>
                      </a:endParaRPr>
                    </a:p>
                    <a:p>
                      <a:pPr algn="just">
                        <a:lnSpc>
                          <a:spcPct val="100000"/>
                        </a:lnSpc>
                      </a:pPr>
                      <a:endParaRPr lang="en-IN" sz="1400" dirty="0">
                        <a:latin typeface="Times New Roman" panose="02020603050405020304" pitchFamily="18" charset="0"/>
                        <a:cs typeface="Times New Roman" panose="02020603050405020304" pitchFamily="18" charset="0"/>
                      </a:endParaRPr>
                    </a:p>
                    <a:p>
                      <a:pPr algn="just">
                        <a:lnSpc>
                          <a:spcPct val="100000"/>
                        </a:lnSpc>
                      </a:pPr>
                      <a:endParaRPr lang="en-IN" sz="1400" dirty="0">
                        <a:latin typeface="Times New Roman" panose="02020603050405020304" pitchFamily="18" charset="0"/>
                        <a:cs typeface="Times New Roman" panose="02020603050405020304" pitchFamily="18" charset="0"/>
                      </a:endParaRPr>
                    </a:p>
                    <a:p>
                      <a:pPr algn="just">
                        <a:lnSpc>
                          <a:spcPct val="100000"/>
                        </a:lnSpc>
                      </a:pPr>
                      <a:endParaRPr lang="en-IN" sz="1400" dirty="0">
                        <a:latin typeface="Times New Roman" panose="02020603050405020304" pitchFamily="18" charset="0"/>
                        <a:cs typeface="Times New Roman" panose="02020603050405020304" pitchFamily="18" charset="0"/>
                      </a:endParaRPr>
                    </a:p>
                    <a:p>
                      <a:pPr algn="just">
                        <a:lnSpc>
                          <a:spcPct val="100000"/>
                        </a:lnSpc>
                      </a:pPr>
                      <a:r>
                        <a:rPr lang="en-IN" sz="1400" dirty="0">
                          <a:latin typeface="Times New Roman" panose="02020603050405020304" pitchFamily="18" charset="0"/>
                          <a:cs typeface="Times New Roman" panose="02020603050405020304" pitchFamily="18" charset="0"/>
                        </a:rPr>
                        <a:t>1</a:t>
                      </a:r>
                    </a:p>
                  </a:txBody>
                  <a:tcPr/>
                </a:tc>
                <a:tc>
                  <a:txBody>
                    <a:bodyPr/>
                    <a:lstStyle/>
                    <a:p>
                      <a:pPr marL="0" marR="0" lvl="0" indent="0" algn="just" defTabSz="914400" eaLnBrk="1" fontAlgn="auto" latinLnBrk="0" hangingPunct="1">
                        <a:lnSpc>
                          <a:spcPct val="100000"/>
                        </a:lnSpc>
                        <a:spcBef>
                          <a:spcPts val="0"/>
                        </a:spcBef>
                        <a:spcAft>
                          <a:spcPts val="0"/>
                        </a:spcAft>
                        <a:buClrTx/>
                        <a:buSzTx/>
                        <a:buFontTx/>
                        <a:buNone/>
                        <a:tabLst/>
                        <a:defRPr/>
                      </a:pPr>
                      <a:r>
                        <a:rPr lang="en-IN" sz="1400" dirty="0">
                          <a:latin typeface="Times New Roman" panose="02020603050405020304" pitchFamily="18" charset="0"/>
                          <a:cs typeface="Times New Roman" panose="02020603050405020304" pitchFamily="18" charset="0"/>
                        </a:rPr>
                        <a:t>Environ. Research Letters, 2023</a:t>
                      </a:r>
                    </a:p>
                    <a:p>
                      <a:pPr algn="just">
                        <a:buNone/>
                      </a:pPr>
                      <a:endParaRPr lang="en-IN" sz="1400" dirty="0">
                        <a:latin typeface="Times New Roman" panose="02020603050405020304" pitchFamily="18" charset="0"/>
                        <a:cs typeface="Times New Roman" panose="02020603050405020304" pitchFamily="18" charset="0"/>
                      </a:endParaRPr>
                    </a:p>
                  </a:txBody>
                  <a:tcPr anchor="ctr"/>
                </a:tc>
                <a:tc>
                  <a:txBody>
                    <a:bodyPr/>
                    <a:lstStyle/>
                    <a:p>
                      <a:pPr marL="0" marR="0" lvl="0" indent="0" algn="just" defTabSz="914400" eaLnBrk="1" fontAlgn="auto" latinLnBrk="0" hangingPunct="1">
                        <a:lnSpc>
                          <a:spcPct val="100000"/>
                        </a:lnSpc>
                        <a:spcBef>
                          <a:spcPts val="0"/>
                        </a:spcBef>
                        <a:spcAft>
                          <a:spcPts val="0"/>
                        </a:spcAft>
                        <a:buClrTx/>
                        <a:buSzTx/>
                        <a:buFontTx/>
                        <a:buNone/>
                        <a:tabLst/>
                        <a:defRPr/>
                      </a:pPr>
                      <a:r>
                        <a:rPr lang="en-US" sz="1400" dirty="0">
                          <a:latin typeface="Times New Roman" panose="02020603050405020304" pitchFamily="18" charset="0"/>
                          <a:cs typeface="Times New Roman" panose="02020603050405020304" pitchFamily="18" charset="0"/>
                        </a:rPr>
                        <a:t>S. D. Ghude, D. Debnath, and M. Jena</a:t>
                      </a:r>
                    </a:p>
                    <a:p>
                      <a:pPr algn="just">
                        <a:buNone/>
                      </a:pPr>
                      <a:endParaRPr lang="en-US" sz="1400" dirty="0">
                        <a:latin typeface="Times New Roman" panose="02020603050405020304" pitchFamily="18" charset="0"/>
                        <a:cs typeface="Times New Roman" panose="02020603050405020304" pitchFamily="18" charset="0"/>
                      </a:endParaRPr>
                    </a:p>
                  </a:txBody>
                  <a:tcPr anchor="ctr"/>
                </a:tc>
                <a:tc>
                  <a:txBody>
                    <a:bodyPr/>
                    <a:lstStyle/>
                    <a:p>
                      <a:pPr marL="0" marR="0" lvl="0" indent="0" algn="just" defTabSz="914400" eaLnBrk="1" fontAlgn="auto" latinLnBrk="0" hangingPunct="1">
                        <a:lnSpc>
                          <a:spcPct val="100000"/>
                        </a:lnSpc>
                        <a:spcBef>
                          <a:spcPts val="0"/>
                        </a:spcBef>
                        <a:spcAft>
                          <a:spcPts val="0"/>
                        </a:spcAft>
                        <a:buClrTx/>
                        <a:buSzTx/>
                        <a:buFontTx/>
                        <a:buNone/>
                        <a:tabLst/>
                        <a:defRPr/>
                      </a:pPr>
                      <a:r>
                        <a:rPr lang="en-US" sz="1400" dirty="0">
                          <a:latin typeface="Times New Roman" panose="02020603050405020304" pitchFamily="18" charset="0"/>
                          <a:cs typeface="Times New Roman" panose="02020603050405020304" pitchFamily="18" charset="0"/>
                        </a:rPr>
                        <a:t>Quantifying crop yield losses in India due to surface ozone exposure</a:t>
                      </a:r>
                    </a:p>
                    <a:p>
                      <a:pPr algn="just">
                        <a:buNone/>
                      </a:pPr>
                      <a:endParaRPr lang="en-US" sz="1400" dirty="0">
                        <a:latin typeface="Times New Roman" panose="02020603050405020304" pitchFamily="18" charset="0"/>
                        <a:cs typeface="Times New Roman" panose="02020603050405020304" pitchFamily="18" charset="0"/>
                      </a:endParaRPr>
                    </a:p>
                  </a:txBody>
                  <a:tcPr anchor="ctr"/>
                </a:tc>
                <a:tc>
                  <a:txBody>
                    <a:bodyPr/>
                    <a:lstStyle/>
                    <a:p>
                      <a:pPr marL="0" marR="0" lvl="0" indent="0" algn="just" defTabSz="914400" eaLnBrk="1" fontAlgn="auto" latinLnBrk="0" hangingPunct="1">
                        <a:lnSpc>
                          <a:spcPct val="100000"/>
                        </a:lnSpc>
                        <a:spcBef>
                          <a:spcPts val="0"/>
                        </a:spcBef>
                        <a:spcAft>
                          <a:spcPts val="0"/>
                        </a:spcAft>
                        <a:buClrTx/>
                        <a:buSzTx/>
                        <a:buFontTx/>
                        <a:buNone/>
                        <a:tabLst/>
                        <a:defRPr/>
                      </a:pPr>
                      <a:r>
                        <a:rPr lang="en-US" sz="1400" dirty="0">
                          <a:latin typeface="Times New Roman" panose="02020603050405020304" pitchFamily="18" charset="0"/>
                          <a:cs typeface="Times New Roman" panose="02020603050405020304" pitchFamily="18" charset="0"/>
                        </a:rPr>
                        <a:t>The study combined satellite data, ground monitoring, and statistical analysis to estimate crop yield reductions from surface ozone exposure, then translated these losses into agricultural and economic impacts for India.</a:t>
                      </a:r>
                    </a:p>
                  </a:txBody>
                  <a:tcPr anchor="ctr"/>
                </a:tc>
                <a:extLst>
                  <a:ext uri="{0D108BD9-81ED-4DB2-BD59-A6C34878D82A}">
                    <a16:rowId xmlns:a16="http://schemas.microsoft.com/office/drawing/2014/main" val="3352942104"/>
                  </a:ext>
                </a:extLst>
              </a:tr>
            </a:tbl>
          </a:graphicData>
        </a:graphic>
      </p:graphicFrame>
    </p:spTree>
    <p:extLst>
      <p:ext uri="{BB962C8B-B14F-4D97-AF65-F5344CB8AC3E}">
        <p14:creationId xmlns:p14="http://schemas.microsoft.com/office/powerpoint/2010/main" val="17643590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831842-B0C9-E167-573A-9D1DA0A358AF}"/>
              </a:ext>
            </a:extLst>
          </p:cNvPr>
          <p:cNvSpPr>
            <a:spLocks noGrp="1"/>
          </p:cNvSpPr>
          <p:nvPr>
            <p:ph type="title"/>
          </p:nvPr>
        </p:nvSpPr>
        <p:spPr>
          <a:xfrm>
            <a:off x="2438400" y="755213"/>
            <a:ext cx="4267200" cy="615553"/>
          </a:xfrm>
        </p:spPr>
        <p:txBody>
          <a:bodyPr/>
          <a:lstStyle/>
          <a:p>
            <a:pPr algn="ctr"/>
            <a:r>
              <a:rPr lang="en-IN" sz="2000" dirty="0">
                <a:solidFill>
                  <a:schemeClr val="tx1"/>
                </a:solidFill>
                <a:latin typeface="Times New Roman" panose="02020603050405020304" pitchFamily="18" charset="0"/>
                <a:cs typeface="Times New Roman" panose="02020603050405020304" pitchFamily="18" charset="0"/>
              </a:rPr>
              <a:t>LITERATURE SURVEY</a:t>
            </a:r>
            <a:r>
              <a:rPr lang="en-US" sz="1600" dirty="0">
                <a:solidFill>
                  <a:schemeClr val="tx1"/>
                </a:solidFill>
                <a:latin typeface="Times New Roman" panose="02020603050405020304" pitchFamily="18" charset="0"/>
                <a:cs typeface="Times New Roman" panose="02020603050405020304" pitchFamily="18" charset="0"/>
              </a:rPr>
              <a:t>(continued)</a:t>
            </a:r>
            <a:endParaRPr lang="en-IN" sz="2000" dirty="0">
              <a:solidFill>
                <a:schemeClr val="tx1"/>
              </a:solidFill>
            </a:endParaRPr>
          </a:p>
        </p:txBody>
      </p:sp>
      <p:graphicFrame>
        <p:nvGraphicFramePr>
          <p:cNvPr id="5" name="Table 4">
            <a:extLst>
              <a:ext uri="{FF2B5EF4-FFF2-40B4-BE49-F238E27FC236}">
                <a16:creationId xmlns:a16="http://schemas.microsoft.com/office/drawing/2014/main" id="{B655AFAC-B3C1-1278-27D0-A3E8AE58CB1D}"/>
              </a:ext>
            </a:extLst>
          </p:cNvPr>
          <p:cNvGraphicFramePr>
            <a:graphicFrameLocks noGrp="1"/>
          </p:cNvGraphicFramePr>
          <p:nvPr>
            <p:extLst>
              <p:ext uri="{D42A27DB-BD31-4B8C-83A1-F6EECF244321}">
                <p14:modId xmlns:p14="http://schemas.microsoft.com/office/powerpoint/2010/main" val="1509099658"/>
              </p:ext>
            </p:extLst>
          </p:nvPr>
        </p:nvGraphicFramePr>
        <p:xfrm>
          <a:off x="685800" y="1428750"/>
          <a:ext cx="7772400" cy="2651760"/>
        </p:xfrm>
        <a:graphic>
          <a:graphicData uri="http://schemas.openxmlformats.org/drawingml/2006/table">
            <a:tbl>
              <a:tblPr firstRow="1" bandRow="1">
                <a:tableStyleId>{5C22544A-7EE6-4342-B048-85BDC9FD1C3A}</a:tableStyleId>
              </a:tblPr>
              <a:tblGrid>
                <a:gridCol w="685800">
                  <a:extLst>
                    <a:ext uri="{9D8B030D-6E8A-4147-A177-3AD203B41FA5}">
                      <a16:colId xmlns:a16="http://schemas.microsoft.com/office/drawing/2014/main" val="4080816449"/>
                    </a:ext>
                  </a:extLst>
                </a:gridCol>
                <a:gridCol w="1524000">
                  <a:extLst>
                    <a:ext uri="{9D8B030D-6E8A-4147-A177-3AD203B41FA5}">
                      <a16:colId xmlns:a16="http://schemas.microsoft.com/office/drawing/2014/main" val="2994455484"/>
                    </a:ext>
                  </a:extLst>
                </a:gridCol>
                <a:gridCol w="1524000">
                  <a:extLst>
                    <a:ext uri="{9D8B030D-6E8A-4147-A177-3AD203B41FA5}">
                      <a16:colId xmlns:a16="http://schemas.microsoft.com/office/drawing/2014/main" val="246892323"/>
                    </a:ext>
                  </a:extLst>
                </a:gridCol>
                <a:gridCol w="1905000">
                  <a:extLst>
                    <a:ext uri="{9D8B030D-6E8A-4147-A177-3AD203B41FA5}">
                      <a16:colId xmlns:a16="http://schemas.microsoft.com/office/drawing/2014/main" val="836600112"/>
                    </a:ext>
                  </a:extLst>
                </a:gridCol>
                <a:gridCol w="2133600">
                  <a:extLst>
                    <a:ext uri="{9D8B030D-6E8A-4147-A177-3AD203B41FA5}">
                      <a16:colId xmlns:a16="http://schemas.microsoft.com/office/drawing/2014/main" val="2415524525"/>
                    </a:ext>
                  </a:extLst>
                </a:gridCol>
              </a:tblGrid>
              <a:tr h="609600">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IN" sz="1800" dirty="0">
                          <a:latin typeface="Times New Roman" panose="02020603050405020304" pitchFamily="18" charset="0"/>
                          <a:cs typeface="Times New Roman" panose="02020603050405020304" pitchFamily="18" charset="0"/>
                        </a:rPr>
                        <a:t>S.no </a:t>
                      </a:r>
                    </a:p>
                    <a:p>
                      <a:endParaRPr lang="en-IN" dirty="0">
                        <a:latin typeface="Times New Roman" panose="02020603050405020304" pitchFamily="18" charset="0"/>
                        <a:cs typeface="Times New Roman" panose="02020603050405020304" pitchFamily="18" charset="0"/>
                      </a:endParaRPr>
                    </a:p>
                  </a:txBody>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IN" sz="1800" dirty="0">
                          <a:latin typeface="Times New Roman" panose="02020603050405020304" pitchFamily="18" charset="0"/>
                          <a:cs typeface="Times New Roman" panose="02020603050405020304" pitchFamily="18" charset="0"/>
                        </a:rPr>
                        <a:t>Journal Type</a:t>
                      </a:r>
                    </a:p>
                    <a:p>
                      <a:endParaRPr lang="en-IN" dirty="0">
                        <a:latin typeface="Times New Roman" panose="02020603050405020304" pitchFamily="18" charset="0"/>
                        <a:cs typeface="Times New Roman" panose="02020603050405020304" pitchFamily="18" charset="0"/>
                      </a:endParaRPr>
                    </a:p>
                  </a:txBody>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IN" sz="1800" dirty="0">
                          <a:latin typeface="Times New Roman" panose="02020603050405020304" pitchFamily="18" charset="0"/>
                          <a:cs typeface="Times New Roman" panose="02020603050405020304" pitchFamily="18" charset="0"/>
                        </a:rPr>
                        <a:t>Authors</a:t>
                      </a:r>
                    </a:p>
                    <a:p>
                      <a:endParaRPr lang="en-IN" dirty="0">
                        <a:latin typeface="Times New Roman" panose="02020603050405020304" pitchFamily="18" charset="0"/>
                        <a:cs typeface="Times New Roman" panose="02020603050405020304" pitchFamily="18" charset="0"/>
                      </a:endParaRPr>
                    </a:p>
                  </a:txBody>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IN" sz="1800" dirty="0">
                          <a:latin typeface="Times New Roman" panose="02020603050405020304" pitchFamily="18" charset="0"/>
                          <a:cs typeface="Times New Roman" panose="02020603050405020304" pitchFamily="18" charset="0"/>
                        </a:rPr>
                        <a:t>Title</a:t>
                      </a:r>
                    </a:p>
                    <a:p>
                      <a:endParaRPr lang="en-IN" dirty="0">
                        <a:latin typeface="Times New Roman" panose="02020603050405020304" pitchFamily="18" charset="0"/>
                        <a:cs typeface="Times New Roman" panose="02020603050405020304" pitchFamily="18" charset="0"/>
                      </a:endParaRPr>
                    </a:p>
                  </a:txBody>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IN" sz="1800" dirty="0">
                          <a:latin typeface="Times New Roman" panose="02020603050405020304" pitchFamily="18" charset="0"/>
                          <a:cs typeface="Times New Roman" panose="02020603050405020304" pitchFamily="18" charset="0"/>
                        </a:rPr>
                        <a:t>Methodology</a:t>
                      </a:r>
                    </a:p>
                    <a:p>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228366737"/>
                  </a:ext>
                </a:extLst>
              </a:tr>
              <a:tr h="1251302">
                <a:tc>
                  <a:txBody>
                    <a:bodyPr/>
                    <a:lstStyle/>
                    <a:p>
                      <a:pPr algn="just"/>
                      <a:endParaRPr lang="en-IN" sz="1400" dirty="0">
                        <a:latin typeface="Times New Roman" panose="02020603050405020304" pitchFamily="18" charset="0"/>
                        <a:cs typeface="Times New Roman" panose="02020603050405020304" pitchFamily="18" charset="0"/>
                      </a:endParaRPr>
                    </a:p>
                    <a:p>
                      <a:pPr algn="just"/>
                      <a:endParaRPr lang="en-IN" sz="1400" dirty="0">
                        <a:latin typeface="Times New Roman" panose="02020603050405020304" pitchFamily="18" charset="0"/>
                        <a:cs typeface="Times New Roman" panose="02020603050405020304" pitchFamily="18" charset="0"/>
                      </a:endParaRPr>
                    </a:p>
                    <a:p>
                      <a:pPr algn="just"/>
                      <a:endParaRPr lang="en-IN" sz="1400" dirty="0">
                        <a:latin typeface="Times New Roman" panose="02020603050405020304" pitchFamily="18" charset="0"/>
                        <a:cs typeface="Times New Roman" panose="02020603050405020304" pitchFamily="18" charset="0"/>
                      </a:endParaRPr>
                    </a:p>
                    <a:p>
                      <a:pPr algn="just"/>
                      <a:endParaRPr lang="en-IN" sz="1400" dirty="0">
                        <a:latin typeface="Times New Roman" panose="02020603050405020304" pitchFamily="18" charset="0"/>
                        <a:cs typeface="Times New Roman" panose="02020603050405020304" pitchFamily="18" charset="0"/>
                      </a:endParaRPr>
                    </a:p>
                    <a:p>
                      <a:pPr algn="ctr"/>
                      <a:r>
                        <a:rPr lang="en-IN" sz="1400" dirty="0">
                          <a:latin typeface="Times New Roman" panose="02020603050405020304" pitchFamily="18" charset="0"/>
                          <a:cs typeface="Times New Roman" panose="02020603050405020304" pitchFamily="18" charset="0"/>
                        </a:rPr>
                        <a:t>2</a:t>
                      </a:r>
                    </a:p>
                  </a:txBody>
                  <a:tcPr/>
                </a:tc>
                <a:tc>
                  <a:txBody>
                    <a:bodyPr/>
                    <a:lstStyle/>
                    <a:p>
                      <a:pPr algn="just">
                        <a:buNone/>
                      </a:pPr>
                      <a:r>
                        <a:rPr lang="en-IN" sz="1400" dirty="0">
                          <a:latin typeface="Times New Roman" panose="02020603050405020304" pitchFamily="18" charset="0"/>
                          <a:cs typeface="Times New Roman" panose="02020603050405020304" pitchFamily="18" charset="0"/>
                        </a:rPr>
                        <a:t>Atmospheric Environment, 2024</a:t>
                      </a:r>
                    </a:p>
                  </a:txBody>
                  <a:tcPr anchor="ctr"/>
                </a:tc>
                <a:tc>
                  <a:txBody>
                    <a:bodyPr/>
                    <a:lstStyle/>
                    <a:p>
                      <a:pPr algn="just">
                        <a:buNone/>
                      </a:pPr>
                      <a:r>
                        <a:rPr lang="en-US" sz="1400" dirty="0">
                          <a:latin typeface="Times New Roman" panose="02020603050405020304" pitchFamily="18" charset="0"/>
                          <a:cs typeface="Times New Roman" panose="02020603050405020304" pitchFamily="18" charset="0"/>
                        </a:rPr>
                        <a:t>A. Sharma, R. Kumar, and S. Gupta</a:t>
                      </a:r>
                    </a:p>
                  </a:txBody>
                  <a:tcPr anchor="ctr"/>
                </a:tc>
                <a:tc>
                  <a:txBody>
                    <a:bodyPr/>
                    <a:lstStyle/>
                    <a:p>
                      <a:pPr algn="just">
                        <a:buNone/>
                      </a:pPr>
                      <a:r>
                        <a:rPr lang="en-US" sz="1400" dirty="0">
                          <a:latin typeface="Times New Roman" panose="02020603050405020304" pitchFamily="18" charset="0"/>
                          <a:cs typeface="Times New Roman" panose="02020603050405020304" pitchFamily="18" charset="0"/>
                        </a:rPr>
                        <a:t>VOC driven ozone pollution episodes in Delhi industrial areas</a:t>
                      </a:r>
                    </a:p>
                  </a:txBody>
                  <a:tcPr anchor="ctr"/>
                </a:tc>
                <a:tc>
                  <a:txBody>
                    <a:bodyPr/>
                    <a:lstStyle/>
                    <a:p>
                      <a:pPr algn="just">
                        <a:buNone/>
                      </a:pPr>
                      <a:r>
                        <a:rPr lang="en-US" sz="1400" dirty="0">
                          <a:latin typeface="Times New Roman" panose="02020603050405020304" pitchFamily="18" charset="0"/>
                          <a:cs typeface="Times New Roman" panose="02020603050405020304" pitchFamily="18" charset="0"/>
                        </a:rPr>
                        <a:t>The study investigated ozone pollution episodes in Delhi’s industrial areas by monitoring VOC emissions from solvents and industrial activities, analyzing their role in driving ozone formation patterns.</a:t>
                      </a:r>
                    </a:p>
                  </a:txBody>
                  <a:tcPr anchor="ctr"/>
                </a:tc>
                <a:extLst>
                  <a:ext uri="{0D108BD9-81ED-4DB2-BD59-A6C34878D82A}">
                    <a16:rowId xmlns:a16="http://schemas.microsoft.com/office/drawing/2014/main" val="3352942104"/>
                  </a:ext>
                </a:extLst>
              </a:tr>
            </a:tbl>
          </a:graphicData>
        </a:graphic>
      </p:graphicFrame>
    </p:spTree>
    <p:extLst>
      <p:ext uri="{BB962C8B-B14F-4D97-AF65-F5344CB8AC3E}">
        <p14:creationId xmlns:p14="http://schemas.microsoft.com/office/powerpoint/2010/main" val="33110110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B5A9-4F93-0EEE-8CE0-625BB41DBF5E}"/>
              </a:ext>
            </a:extLst>
          </p:cNvPr>
          <p:cNvSpPr>
            <a:spLocks noGrp="1"/>
          </p:cNvSpPr>
          <p:nvPr>
            <p:ph type="title"/>
          </p:nvPr>
        </p:nvSpPr>
        <p:spPr>
          <a:xfrm>
            <a:off x="2286635" y="742950"/>
            <a:ext cx="4570730" cy="307777"/>
          </a:xfrm>
        </p:spPr>
        <p:txBody>
          <a:bodyPr/>
          <a:lstStyle/>
          <a:p>
            <a:pPr algn="ctr"/>
            <a:r>
              <a:rPr lang="en-IN" sz="2000" dirty="0">
                <a:solidFill>
                  <a:schemeClr val="tx1"/>
                </a:solidFill>
                <a:latin typeface="Times New Roman" panose="02020603050405020304" pitchFamily="18" charset="0"/>
                <a:cs typeface="Times New Roman" panose="02020603050405020304" pitchFamily="18" charset="0"/>
              </a:rPr>
              <a:t>LITERATURE SURVEY</a:t>
            </a:r>
            <a:r>
              <a:rPr lang="en-US" sz="1600" dirty="0">
                <a:solidFill>
                  <a:schemeClr val="tx1"/>
                </a:solidFill>
                <a:latin typeface="Times New Roman" panose="02020603050405020304" pitchFamily="18" charset="0"/>
                <a:cs typeface="Times New Roman" panose="02020603050405020304" pitchFamily="18" charset="0"/>
              </a:rPr>
              <a:t>(continued)</a:t>
            </a:r>
            <a:endParaRPr lang="en-IN" sz="2000" dirty="0"/>
          </a:p>
        </p:txBody>
      </p:sp>
      <p:graphicFrame>
        <p:nvGraphicFramePr>
          <p:cNvPr id="4" name="Table 3">
            <a:extLst>
              <a:ext uri="{FF2B5EF4-FFF2-40B4-BE49-F238E27FC236}">
                <a16:creationId xmlns:a16="http://schemas.microsoft.com/office/drawing/2014/main" id="{391CFE4A-C41F-D17A-5179-1542AB18F408}"/>
              </a:ext>
            </a:extLst>
          </p:cNvPr>
          <p:cNvGraphicFramePr>
            <a:graphicFrameLocks noGrp="1"/>
          </p:cNvGraphicFramePr>
          <p:nvPr>
            <p:extLst>
              <p:ext uri="{D42A27DB-BD31-4B8C-83A1-F6EECF244321}">
                <p14:modId xmlns:p14="http://schemas.microsoft.com/office/powerpoint/2010/main" val="3447021022"/>
              </p:ext>
            </p:extLst>
          </p:nvPr>
        </p:nvGraphicFramePr>
        <p:xfrm>
          <a:off x="684530" y="1428750"/>
          <a:ext cx="7774940" cy="2467055"/>
        </p:xfrm>
        <a:graphic>
          <a:graphicData uri="http://schemas.openxmlformats.org/drawingml/2006/table">
            <a:tbl>
              <a:tblPr firstRow="1" bandRow="1">
                <a:tableStyleId>{5C22544A-7EE6-4342-B048-85BDC9FD1C3A}</a:tableStyleId>
              </a:tblPr>
              <a:tblGrid>
                <a:gridCol w="688340">
                  <a:extLst>
                    <a:ext uri="{9D8B030D-6E8A-4147-A177-3AD203B41FA5}">
                      <a16:colId xmlns:a16="http://schemas.microsoft.com/office/drawing/2014/main" val="4080816449"/>
                    </a:ext>
                  </a:extLst>
                </a:gridCol>
                <a:gridCol w="1524000">
                  <a:extLst>
                    <a:ext uri="{9D8B030D-6E8A-4147-A177-3AD203B41FA5}">
                      <a16:colId xmlns:a16="http://schemas.microsoft.com/office/drawing/2014/main" val="2994455484"/>
                    </a:ext>
                  </a:extLst>
                </a:gridCol>
                <a:gridCol w="1524000">
                  <a:extLst>
                    <a:ext uri="{9D8B030D-6E8A-4147-A177-3AD203B41FA5}">
                      <a16:colId xmlns:a16="http://schemas.microsoft.com/office/drawing/2014/main" val="246892323"/>
                    </a:ext>
                  </a:extLst>
                </a:gridCol>
                <a:gridCol w="1905000">
                  <a:extLst>
                    <a:ext uri="{9D8B030D-6E8A-4147-A177-3AD203B41FA5}">
                      <a16:colId xmlns:a16="http://schemas.microsoft.com/office/drawing/2014/main" val="836600112"/>
                    </a:ext>
                  </a:extLst>
                </a:gridCol>
                <a:gridCol w="2133600">
                  <a:extLst>
                    <a:ext uri="{9D8B030D-6E8A-4147-A177-3AD203B41FA5}">
                      <a16:colId xmlns:a16="http://schemas.microsoft.com/office/drawing/2014/main" val="2415524525"/>
                    </a:ext>
                  </a:extLst>
                </a:gridCol>
              </a:tblGrid>
              <a:tr h="609600">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IN" sz="1800" dirty="0">
                          <a:latin typeface="Times New Roman" panose="02020603050405020304" pitchFamily="18" charset="0"/>
                          <a:cs typeface="Times New Roman" panose="02020603050405020304" pitchFamily="18" charset="0"/>
                        </a:rPr>
                        <a:t>S.no </a:t>
                      </a:r>
                    </a:p>
                    <a:p>
                      <a:endParaRPr lang="en-IN" dirty="0">
                        <a:latin typeface="Times New Roman" panose="02020603050405020304" pitchFamily="18" charset="0"/>
                        <a:cs typeface="Times New Roman" panose="02020603050405020304" pitchFamily="18" charset="0"/>
                      </a:endParaRPr>
                    </a:p>
                  </a:txBody>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IN" sz="1800" dirty="0">
                          <a:latin typeface="Times New Roman" panose="02020603050405020304" pitchFamily="18" charset="0"/>
                          <a:cs typeface="Times New Roman" panose="02020603050405020304" pitchFamily="18" charset="0"/>
                        </a:rPr>
                        <a:t>Journal Type</a:t>
                      </a:r>
                    </a:p>
                    <a:p>
                      <a:endParaRPr lang="en-IN" dirty="0">
                        <a:latin typeface="Times New Roman" panose="02020603050405020304" pitchFamily="18" charset="0"/>
                        <a:cs typeface="Times New Roman" panose="02020603050405020304" pitchFamily="18" charset="0"/>
                      </a:endParaRPr>
                    </a:p>
                  </a:txBody>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IN" sz="1800" dirty="0">
                          <a:latin typeface="Times New Roman" panose="02020603050405020304" pitchFamily="18" charset="0"/>
                          <a:cs typeface="Times New Roman" panose="02020603050405020304" pitchFamily="18" charset="0"/>
                        </a:rPr>
                        <a:t>Authors</a:t>
                      </a:r>
                    </a:p>
                    <a:p>
                      <a:endParaRPr lang="en-IN" dirty="0">
                        <a:latin typeface="Times New Roman" panose="02020603050405020304" pitchFamily="18" charset="0"/>
                        <a:cs typeface="Times New Roman" panose="02020603050405020304" pitchFamily="18" charset="0"/>
                      </a:endParaRPr>
                    </a:p>
                  </a:txBody>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IN" sz="1800" dirty="0">
                          <a:latin typeface="Times New Roman" panose="02020603050405020304" pitchFamily="18" charset="0"/>
                          <a:cs typeface="Times New Roman" panose="02020603050405020304" pitchFamily="18" charset="0"/>
                        </a:rPr>
                        <a:t>Title</a:t>
                      </a:r>
                    </a:p>
                    <a:p>
                      <a:endParaRPr lang="en-IN" dirty="0">
                        <a:latin typeface="Times New Roman" panose="02020603050405020304" pitchFamily="18" charset="0"/>
                        <a:cs typeface="Times New Roman" panose="02020603050405020304" pitchFamily="18" charset="0"/>
                      </a:endParaRPr>
                    </a:p>
                  </a:txBody>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IN" sz="1800" dirty="0">
                          <a:latin typeface="Times New Roman" panose="02020603050405020304" pitchFamily="18" charset="0"/>
                          <a:cs typeface="Times New Roman" panose="02020603050405020304" pitchFamily="18" charset="0"/>
                        </a:rPr>
                        <a:t>Methodology</a:t>
                      </a:r>
                    </a:p>
                    <a:p>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228366737"/>
                  </a:ext>
                </a:extLst>
              </a:tr>
              <a:tr h="1826975">
                <a:tc>
                  <a:txBody>
                    <a:bodyPr/>
                    <a:lstStyle/>
                    <a:p>
                      <a:endParaRPr lang="en-IN" sz="1400" dirty="0">
                        <a:latin typeface="Times New Roman" panose="02020603050405020304" pitchFamily="18" charset="0"/>
                        <a:cs typeface="Times New Roman" panose="02020603050405020304" pitchFamily="18" charset="0"/>
                      </a:endParaRPr>
                    </a:p>
                    <a:p>
                      <a:endParaRPr lang="en-IN" sz="1400" dirty="0">
                        <a:latin typeface="Times New Roman" panose="02020603050405020304" pitchFamily="18" charset="0"/>
                        <a:cs typeface="Times New Roman" panose="02020603050405020304" pitchFamily="18" charset="0"/>
                      </a:endParaRPr>
                    </a:p>
                    <a:p>
                      <a:pPr algn="ctr"/>
                      <a:endParaRPr lang="en-IN" sz="1400" dirty="0">
                        <a:latin typeface="Times New Roman" panose="02020603050405020304" pitchFamily="18" charset="0"/>
                        <a:cs typeface="Times New Roman" panose="02020603050405020304" pitchFamily="18" charset="0"/>
                      </a:endParaRPr>
                    </a:p>
                    <a:p>
                      <a:pPr algn="ctr"/>
                      <a:endParaRPr lang="en-IN" sz="1400" dirty="0">
                        <a:latin typeface="Times New Roman" panose="02020603050405020304" pitchFamily="18" charset="0"/>
                        <a:cs typeface="Times New Roman" panose="02020603050405020304" pitchFamily="18" charset="0"/>
                      </a:endParaRPr>
                    </a:p>
                    <a:p>
                      <a:pPr algn="ctr"/>
                      <a:r>
                        <a:rPr lang="en-IN" sz="1400" dirty="0">
                          <a:latin typeface="Times New Roman" panose="02020603050405020304" pitchFamily="18" charset="0"/>
                          <a:cs typeface="Times New Roman" panose="02020603050405020304" pitchFamily="18" charset="0"/>
                        </a:rPr>
                        <a:t>3</a:t>
                      </a:r>
                    </a:p>
                  </a:txBody>
                  <a:tcPr/>
                </a:tc>
                <a:tc>
                  <a:txBody>
                    <a:bodyPr/>
                    <a:lstStyle/>
                    <a:p>
                      <a:pPr algn="just">
                        <a:buNone/>
                      </a:pPr>
                      <a:r>
                        <a:rPr lang="en-US" sz="1400" dirty="0">
                          <a:latin typeface="Times New Roman" panose="02020603050405020304" pitchFamily="18" charset="0"/>
                          <a:cs typeface="Times New Roman" panose="02020603050405020304" pitchFamily="18" charset="0"/>
                        </a:rPr>
                        <a:t>Times of India, Apr. 2025</a:t>
                      </a:r>
                    </a:p>
                  </a:txBody>
                  <a:tcPr anchor="ctr"/>
                </a:tc>
                <a:tc>
                  <a:txBody>
                    <a:bodyPr/>
                    <a:lstStyle/>
                    <a:p>
                      <a:pPr algn="just">
                        <a:buNone/>
                      </a:pPr>
                      <a:r>
                        <a:rPr lang="en-US" sz="1400" dirty="0">
                          <a:latin typeface="Times New Roman" panose="02020603050405020304" pitchFamily="18" charset="0"/>
                          <a:cs typeface="Times New Roman" panose="02020603050405020304" pitchFamily="18" charset="0"/>
                        </a:rPr>
                        <a:t>Times of India Newsroom</a:t>
                      </a:r>
                    </a:p>
                  </a:txBody>
                  <a:tcPr anchor="ctr"/>
                </a:tc>
                <a:tc>
                  <a:txBody>
                    <a:bodyPr/>
                    <a:lstStyle/>
                    <a:p>
                      <a:pPr algn="just">
                        <a:buNone/>
                      </a:pPr>
                      <a:r>
                        <a:rPr lang="en-US" sz="1400" dirty="0">
                          <a:latin typeface="Times New Roman" panose="02020603050405020304" pitchFamily="18" charset="0"/>
                          <a:cs typeface="Times New Roman" panose="02020603050405020304" pitchFamily="18" charset="0"/>
                        </a:rPr>
                        <a:t>Delhi ozone levels reach five-year high</a:t>
                      </a:r>
                    </a:p>
                  </a:txBody>
                  <a:tcPr anchor="ctr"/>
                </a:tc>
                <a:tc>
                  <a:txBody>
                    <a:bodyPr/>
                    <a:lstStyle/>
                    <a:p>
                      <a:pPr algn="just">
                        <a:buNone/>
                      </a:pPr>
                      <a:r>
                        <a:rPr lang="en-US" sz="1400" dirty="0">
                          <a:latin typeface="Times New Roman" panose="02020603050405020304" pitchFamily="18" charset="0"/>
                          <a:cs typeface="Times New Roman" panose="02020603050405020304" pitchFamily="18" charset="0"/>
                        </a:rPr>
                        <a:t>Reported monitoring data showing record ozone concentrations, analyzed seasonal patterns, and highlighted health and policy concerns linked to the spike.</a:t>
                      </a:r>
                    </a:p>
                  </a:txBody>
                  <a:tcPr anchor="ctr"/>
                </a:tc>
                <a:extLst>
                  <a:ext uri="{0D108BD9-81ED-4DB2-BD59-A6C34878D82A}">
                    <a16:rowId xmlns:a16="http://schemas.microsoft.com/office/drawing/2014/main" val="3352942104"/>
                  </a:ext>
                </a:extLst>
              </a:tr>
            </a:tbl>
          </a:graphicData>
        </a:graphic>
      </p:graphicFrame>
    </p:spTree>
    <p:extLst>
      <p:ext uri="{BB962C8B-B14F-4D97-AF65-F5344CB8AC3E}">
        <p14:creationId xmlns:p14="http://schemas.microsoft.com/office/powerpoint/2010/main" val="10879246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D95A66-DBB3-6373-2772-ECC401F21DE2}"/>
              </a:ext>
            </a:extLst>
          </p:cNvPr>
          <p:cNvSpPr>
            <a:spLocks noGrp="1"/>
          </p:cNvSpPr>
          <p:nvPr>
            <p:ph type="title"/>
          </p:nvPr>
        </p:nvSpPr>
        <p:spPr>
          <a:xfrm>
            <a:off x="2477770" y="819150"/>
            <a:ext cx="4188460" cy="307777"/>
          </a:xfrm>
        </p:spPr>
        <p:txBody>
          <a:bodyPr/>
          <a:lstStyle/>
          <a:p>
            <a:pPr algn="ctr"/>
            <a:r>
              <a:rPr lang="en-US" sz="2000" dirty="0">
                <a:solidFill>
                  <a:schemeClr val="tx1"/>
                </a:solidFill>
                <a:latin typeface="Times New Roman" panose="02020603050405020304" pitchFamily="18" charset="0"/>
                <a:cs typeface="Times New Roman" panose="02020603050405020304" pitchFamily="18" charset="0"/>
              </a:rPr>
              <a:t>EXISTING SYSTEM</a:t>
            </a:r>
          </a:p>
        </p:txBody>
      </p:sp>
      <p:sp>
        <p:nvSpPr>
          <p:cNvPr id="4" name="Rectangle 1">
            <a:extLst>
              <a:ext uri="{FF2B5EF4-FFF2-40B4-BE49-F238E27FC236}">
                <a16:creationId xmlns:a16="http://schemas.microsoft.com/office/drawing/2014/main" id="{958E5FB8-1C26-A6A0-F4A5-FD4D4B2415B0}"/>
              </a:ext>
            </a:extLst>
          </p:cNvPr>
          <p:cNvSpPr>
            <a:spLocks noGrp="1" noChangeArrowheads="1"/>
          </p:cNvSpPr>
          <p:nvPr>
            <p:ph type="body" idx="1"/>
          </p:nvPr>
        </p:nvSpPr>
        <p:spPr bwMode="auto">
          <a:xfrm>
            <a:off x="838200" y="1581150"/>
            <a:ext cx="7467600" cy="2633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 Sources</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Ozone levels are monitored using CPCB ground stations and satellite data.</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Analysis Method</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Mostly descriptive, showing past and present readings without forecasting.</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Coverage</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Limited to certain industrial regions, not nationwide.</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Limitations</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Cannot predict future ozone trends; difficult to separate human impact from natural climate factors (monsoon, ENSO, QBO).</a:t>
            </a:r>
          </a:p>
        </p:txBody>
      </p:sp>
    </p:spTree>
    <p:extLst>
      <p:ext uri="{BB962C8B-B14F-4D97-AF65-F5344CB8AC3E}">
        <p14:creationId xmlns:p14="http://schemas.microsoft.com/office/powerpoint/2010/main" val="2927788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3220E2-4B6A-5FE3-5CB2-5311C30C5FD7}"/>
              </a:ext>
            </a:extLst>
          </p:cNvPr>
          <p:cNvSpPr>
            <a:spLocks noGrp="1"/>
          </p:cNvSpPr>
          <p:nvPr>
            <p:ph type="title"/>
          </p:nvPr>
        </p:nvSpPr>
        <p:spPr>
          <a:xfrm>
            <a:off x="1828800" y="870049"/>
            <a:ext cx="5331460" cy="307777"/>
          </a:xfrm>
        </p:spPr>
        <p:txBody>
          <a:bodyPr/>
          <a:lstStyle/>
          <a:p>
            <a:pPr algn="ctr"/>
            <a:r>
              <a:rPr lang="en-US" sz="2000" dirty="0">
                <a:solidFill>
                  <a:schemeClr val="tx1"/>
                </a:solidFill>
                <a:latin typeface="Times New Roman" panose="02020603050405020304" pitchFamily="18" charset="0"/>
                <a:cs typeface="Times New Roman" panose="02020603050405020304" pitchFamily="18" charset="0"/>
              </a:rPr>
              <a:t>PROPOSED SYSTEM</a:t>
            </a:r>
          </a:p>
        </p:txBody>
      </p:sp>
      <p:sp>
        <p:nvSpPr>
          <p:cNvPr id="5" name="TextBox 4">
            <a:extLst>
              <a:ext uri="{FF2B5EF4-FFF2-40B4-BE49-F238E27FC236}">
                <a16:creationId xmlns:a16="http://schemas.microsoft.com/office/drawing/2014/main" id="{1DA437B9-ED61-7FE3-F076-3D3C03C932F6}"/>
              </a:ext>
            </a:extLst>
          </p:cNvPr>
          <p:cNvSpPr txBox="1"/>
          <p:nvPr/>
        </p:nvSpPr>
        <p:spPr>
          <a:xfrm>
            <a:off x="914400" y="1657350"/>
            <a:ext cx="7315200" cy="2308324"/>
          </a:xfrm>
          <a:prstGeom prst="rect">
            <a:avLst/>
          </a:prstGeom>
          <a:noFill/>
        </p:spPr>
        <p:txBody>
          <a:bodyPr wrap="square">
            <a:spAutoFit/>
          </a:bodyPr>
          <a:lstStyle/>
          <a:p>
            <a:pPr algn="just"/>
            <a:r>
              <a:rPr lang="en-US" sz="1600" dirty="0">
                <a:latin typeface="Times New Roman" panose="02020603050405020304" pitchFamily="18" charset="0"/>
                <a:cs typeface="Times New Roman" panose="02020603050405020304" pitchFamily="18" charset="0"/>
              </a:rPr>
              <a:t>The proposed system establishes a unified framework that combines satellite observations, ground-based monitoring, and climate datasets. It operates through a series of well-defined stages, beginning with systematic data collection and preprocessing, followed by statistical analysis to identify trends and seasonal variations. Advanced machine learning models are then applied to generate reliable forecasts, while climate factors such as ENSO, QBO, and monsoon cycles are integrated to refine accuracy. Finally, the outcomes are presented through clear visualizations, enabling early warnings and actionable insights for policymakers and researchers.</a:t>
            </a:r>
          </a:p>
        </p:txBody>
      </p:sp>
    </p:spTree>
    <p:extLst>
      <p:ext uri="{BB962C8B-B14F-4D97-AF65-F5344CB8AC3E}">
        <p14:creationId xmlns:p14="http://schemas.microsoft.com/office/powerpoint/2010/main" val="14379238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76F5B79A-4AFC-8DBF-4794-4850D249F7B4}"/>
              </a:ext>
            </a:extLst>
          </p:cNvPr>
          <p:cNvSpPr txBox="1">
            <a:spLocks noGrp="1"/>
          </p:cNvSpPr>
          <p:nvPr>
            <p:ph type="body" idx="1"/>
          </p:nvPr>
        </p:nvSpPr>
        <p:spPr>
          <a:xfrm>
            <a:off x="838200" y="1276350"/>
            <a:ext cx="7278687" cy="3200876"/>
          </a:xfrm>
          <a:prstGeom prst="rect">
            <a:avLst/>
          </a:prstGeom>
          <a:noFill/>
        </p:spPr>
        <p:txBody>
          <a:bodyPr wrap="square">
            <a:spAutoFit/>
          </a:bodyPr>
          <a:lstStyle/>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 Collection :</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Collect ozone concentration and CFC emission data from global sources (NASA OMI, Sentinel-5P) and national sources (CPCB)</a:t>
            </a:r>
          </a:p>
          <a:p>
            <a:pPr marR="0" lvl="0" algn="just" defTabSz="914400" rtl="0" eaLnBrk="0" fontAlgn="base" latinLnBrk="0" hangingPunct="0">
              <a:lnSpc>
                <a:spcPct val="100000"/>
              </a:lnSpc>
              <a:spcBef>
                <a:spcPct val="0"/>
              </a:spcBef>
              <a:spcAft>
                <a:spcPct val="0"/>
              </a:spcAft>
              <a:buClrTx/>
              <a:buSzTx/>
              <a:tabLst/>
            </a:pP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sz="1600" dirty="0">
                <a:solidFill>
                  <a:schemeClr val="tx1"/>
                </a:solidFill>
                <a:latin typeface="Times New Roman" panose="02020603050405020304" pitchFamily="18" charset="0"/>
                <a:cs typeface="Times New Roman" panose="02020603050405020304" pitchFamily="18" charset="0"/>
              </a:rPr>
              <a:t>Data Preprocessing: </a:t>
            </a:r>
            <a:r>
              <a:rPr lang="en-US" altLang="en-US" sz="1600" b="0" dirty="0">
                <a:solidFill>
                  <a:schemeClr val="tx1"/>
                </a:solidFill>
                <a:latin typeface="Times New Roman" panose="02020603050405020304" pitchFamily="18" charset="0"/>
                <a:cs typeface="Times New Roman" panose="02020603050405020304" pitchFamily="18" charset="0"/>
              </a:rPr>
              <a:t>Cleaned ozone &amp; industrial data by fixing missing values &amp; removing errors.</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Forecasting with Machine Learning: </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Apply Linear Regression, ARIMA, and LSTM models to analyze historical trends and predict future ozone concentrations, capturing both linear and non-linear patterns.</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Visualization &amp; Insights: </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Generate time-series plots and spatial heatmaps to illustrate depletion patterns, identify industrial hotspots, and provide predictive insights that support environmental regulation and sustainable policies.</a:t>
            </a:r>
          </a:p>
        </p:txBody>
      </p:sp>
    </p:spTree>
    <p:extLst>
      <p:ext uri="{BB962C8B-B14F-4D97-AF65-F5344CB8AC3E}">
        <p14:creationId xmlns:p14="http://schemas.microsoft.com/office/powerpoint/2010/main" val="3666553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ED3A8-9726-E326-DA58-78EC82C54E6C}"/>
              </a:ext>
            </a:extLst>
          </p:cNvPr>
          <p:cNvSpPr>
            <a:spLocks noGrp="1"/>
          </p:cNvSpPr>
          <p:nvPr>
            <p:ph type="title"/>
          </p:nvPr>
        </p:nvSpPr>
        <p:spPr>
          <a:xfrm>
            <a:off x="1707291" y="585030"/>
            <a:ext cx="5448934" cy="307777"/>
          </a:xfrm>
        </p:spPr>
        <p:txBody>
          <a:bodyPr/>
          <a:lstStyle/>
          <a:p>
            <a:pPr algn="ctr"/>
            <a:r>
              <a:rPr lang="en-US" sz="2000" dirty="0">
                <a:solidFill>
                  <a:schemeClr val="tx1"/>
                </a:solidFill>
                <a:latin typeface="Times New Roman" panose="02020603050405020304" pitchFamily="18" charset="0"/>
                <a:cs typeface="Times New Roman" panose="02020603050405020304" pitchFamily="18" charset="0"/>
              </a:rPr>
              <a:t>SYSTEM ARCHITECTURE</a:t>
            </a:r>
            <a:endParaRPr lang="en-IN" sz="2000" dirty="0">
              <a:solidFill>
                <a:schemeClr val="tx1"/>
              </a:solidFill>
              <a:latin typeface="Times New Roman" panose="02020603050405020304" pitchFamily="18" charset="0"/>
              <a:cs typeface="Times New Roman" panose="02020603050405020304" pitchFamily="18" charset="0"/>
            </a:endParaRPr>
          </a:p>
        </p:txBody>
      </p:sp>
      <p:grpSp>
        <p:nvGrpSpPr>
          <p:cNvPr id="4" name="Group 3">
            <a:extLst>
              <a:ext uri="{FF2B5EF4-FFF2-40B4-BE49-F238E27FC236}">
                <a16:creationId xmlns:a16="http://schemas.microsoft.com/office/drawing/2014/main" id="{40D3639A-A1EC-8134-3C86-54F03CFCC6FC}"/>
              </a:ext>
            </a:extLst>
          </p:cNvPr>
          <p:cNvGrpSpPr/>
          <p:nvPr/>
        </p:nvGrpSpPr>
        <p:grpSpPr>
          <a:xfrm>
            <a:off x="1707291" y="1005802"/>
            <a:ext cx="5628717" cy="3564098"/>
            <a:chOff x="59872" y="57531"/>
            <a:chExt cx="2997653" cy="3494297"/>
          </a:xfrm>
        </p:grpSpPr>
        <p:sp>
          <p:nvSpPr>
            <p:cNvPr id="6" name="Rectangle: Rounded Corners 5">
              <a:extLst>
                <a:ext uri="{FF2B5EF4-FFF2-40B4-BE49-F238E27FC236}">
                  <a16:creationId xmlns:a16="http://schemas.microsoft.com/office/drawing/2014/main" id="{BE77E47A-F734-64E6-BDFC-5D022B39AEB9}"/>
                </a:ext>
              </a:extLst>
            </p:cNvPr>
            <p:cNvSpPr/>
            <p:nvPr/>
          </p:nvSpPr>
          <p:spPr>
            <a:xfrm>
              <a:off x="59872" y="57531"/>
              <a:ext cx="1208314" cy="911298"/>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lgn="ctr">
                <a:buNone/>
              </a:pPr>
              <a:endParaRPr lang="en-US" sz="900" b="1" dirty="0">
                <a:solidFill>
                  <a:srgbClr val="000000"/>
                </a:solidFill>
                <a:effectLst/>
                <a:latin typeface="Times New Roman" panose="02020603050405020304" pitchFamily="18" charset="0"/>
                <a:ea typeface="Times New Roman" panose="02020603050405020304" pitchFamily="18" charset="0"/>
              </a:endParaRPr>
            </a:p>
            <a:p>
              <a:pPr marL="0" marR="0" algn="ctr">
                <a:buNone/>
              </a:pPr>
              <a:r>
                <a:rPr lang="en-US" sz="900" b="1" dirty="0">
                  <a:solidFill>
                    <a:srgbClr val="000000"/>
                  </a:solidFill>
                  <a:effectLst/>
                  <a:latin typeface="Times New Roman" panose="02020603050405020304" pitchFamily="18" charset="0"/>
                  <a:ea typeface="Times New Roman" panose="02020603050405020304" pitchFamily="18" charset="0"/>
                </a:rPr>
                <a:t>Data Sources</a:t>
              </a:r>
              <a:endParaRPr lang="en-US" sz="900" dirty="0">
                <a:effectLst/>
                <a:latin typeface="Times New Roman" panose="02020603050405020304" pitchFamily="18" charset="0"/>
                <a:ea typeface="Times New Roman" panose="02020603050405020304" pitchFamily="18" charset="0"/>
              </a:endParaRPr>
            </a:p>
            <a:p>
              <a:pPr marL="342900" marR="0" lvl="0" indent="-117475">
                <a:buFont typeface="Symbol" panose="05050102010706020507" pitchFamily="18" charset="2"/>
                <a:buChar char=""/>
              </a:pPr>
              <a:r>
                <a:rPr lang="en-US" sz="700" kern="100" dirty="0">
                  <a:solidFill>
                    <a:srgbClr val="000000"/>
                  </a:solidFill>
                  <a:effectLst/>
                  <a:ea typeface="Cambria" panose="02040503050406030204" pitchFamily="18" charset="0"/>
                  <a:cs typeface="Times New Roman" panose="02020603050405020304" pitchFamily="18" charset="0"/>
                </a:rPr>
                <a:t>Satellite sensors</a:t>
              </a:r>
              <a:endParaRPr lang="en-US" sz="1200" kern="100" dirty="0">
                <a:effectLst/>
                <a:ea typeface="Cambria" panose="02040503050406030204" pitchFamily="18" charset="0"/>
                <a:cs typeface="Times New Roman" panose="02020603050405020304" pitchFamily="18" charset="0"/>
              </a:endParaRPr>
            </a:p>
            <a:p>
              <a:pPr marL="342900" marR="0" lvl="0" indent="-117475">
                <a:buFont typeface="Symbol" panose="05050102010706020507" pitchFamily="18" charset="2"/>
                <a:buChar char=""/>
              </a:pPr>
              <a:r>
                <a:rPr lang="en-US" sz="700" kern="100" dirty="0">
                  <a:solidFill>
                    <a:srgbClr val="000000"/>
                  </a:solidFill>
                  <a:effectLst/>
                  <a:ea typeface="Cambria" panose="02040503050406030204" pitchFamily="18" charset="0"/>
                  <a:cs typeface="Times New Roman" panose="02020603050405020304" pitchFamily="18" charset="0"/>
                </a:rPr>
                <a:t>Ground stations</a:t>
              </a:r>
              <a:endParaRPr lang="en-US" sz="1200" kern="100" dirty="0">
                <a:effectLst/>
                <a:ea typeface="Cambria" panose="02040503050406030204" pitchFamily="18" charset="0"/>
                <a:cs typeface="Times New Roman" panose="02020603050405020304" pitchFamily="18" charset="0"/>
              </a:endParaRPr>
            </a:p>
            <a:p>
              <a:pPr marL="342900" marR="0" lvl="0" indent="-117475">
                <a:spcAft>
                  <a:spcPts val="800"/>
                </a:spcAft>
                <a:buFont typeface="Symbol" panose="05050102010706020507" pitchFamily="18" charset="2"/>
                <a:buChar char=""/>
              </a:pPr>
              <a:r>
                <a:rPr lang="en-US" sz="700" kern="100" dirty="0">
                  <a:solidFill>
                    <a:srgbClr val="000000"/>
                  </a:solidFill>
                  <a:effectLst/>
                  <a:ea typeface="Cambria" panose="02040503050406030204" pitchFamily="18" charset="0"/>
                  <a:cs typeface="Times New Roman" panose="02020603050405020304" pitchFamily="18" charset="0"/>
                </a:rPr>
                <a:t>Meteorological data</a:t>
              </a:r>
              <a:endParaRPr lang="en-US" sz="1200" kern="100" dirty="0">
                <a:effectLst/>
                <a:ea typeface="Cambria" panose="02040503050406030204" pitchFamily="18" charset="0"/>
                <a:cs typeface="Times New Roman" panose="02020603050405020304" pitchFamily="18" charset="0"/>
              </a:endParaRPr>
            </a:p>
            <a:p>
              <a:pPr marL="0" marR="0" algn="ctr">
                <a:buNone/>
              </a:pPr>
              <a:r>
                <a:rPr lang="en-US" sz="800" dirty="0">
                  <a:solidFill>
                    <a:srgbClr val="000000"/>
                  </a:solidFill>
                  <a:effectLst/>
                  <a:latin typeface="Times New Roman" panose="02020603050405020304" pitchFamily="18" charset="0"/>
                  <a:ea typeface="Times New Roman" panose="02020603050405020304" pitchFamily="18" charset="0"/>
                </a:rPr>
                <a:t> </a:t>
              </a:r>
              <a:endParaRPr lang="en-US" sz="1100" dirty="0">
                <a:effectLst/>
                <a:latin typeface="Times New Roman" panose="02020603050405020304" pitchFamily="18" charset="0"/>
                <a:ea typeface="Times New Roman" panose="02020603050405020304" pitchFamily="18" charset="0"/>
              </a:endParaRPr>
            </a:p>
          </p:txBody>
        </p:sp>
        <p:sp>
          <p:nvSpPr>
            <p:cNvPr id="7" name="Rectangle: Rounded Corners 6">
              <a:extLst>
                <a:ext uri="{FF2B5EF4-FFF2-40B4-BE49-F238E27FC236}">
                  <a16:creationId xmlns:a16="http://schemas.microsoft.com/office/drawing/2014/main" id="{855679C0-F1A3-DC24-43D2-58F55472E553}"/>
                </a:ext>
              </a:extLst>
            </p:cNvPr>
            <p:cNvSpPr/>
            <p:nvPr/>
          </p:nvSpPr>
          <p:spPr>
            <a:xfrm>
              <a:off x="1562100" y="87086"/>
              <a:ext cx="1495425" cy="1123950"/>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lgn="ctr">
                <a:buNone/>
              </a:pPr>
              <a:r>
                <a:rPr lang="en-US" sz="1100">
                  <a:solidFill>
                    <a:srgbClr val="000000"/>
                  </a:solidFill>
                  <a:effectLst/>
                  <a:latin typeface="Times New Roman" panose="02020603050405020304" pitchFamily="18" charset="0"/>
                  <a:ea typeface="Times New Roman" panose="02020603050405020304" pitchFamily="18" charset="0"/>
                </a:rPr>
                <a:t> </a:t>
              </a:r>
              <a:endParaRPr lang="en-US" sz="1100">
                <a:effectLst/>
                <a:latin typeface="Times New Roman" panose="02020603050405020304" pitchFamily="18" charset="0"/>
                <a:ea typeface="Times New Roman" panose="02020603050405020304" pitchFamily="18" charset="0"/>
              </a:endParaRPr>
            </a:p>
          </p:txBody>
        </p:sp>
        <p:sp>
          <p:nvSpPr>
            <p:cNvPr id="8" name="Rectangle: Rounded Corners 7">
              <a:extLst>
                <a:ext uri="{FF2B5EF4-FFF2-40B4-BE49-F238E27FC236}">
                  <a16:creationId xmlns:a16="http://schemas.microsoft.com/office/drawing/2014/main" id="{DD9574DA-0724-6A40-9404-AFDEFF34DD1F}"/>
                </a:ext>
              </a:extLst>
            </p:cNvPr>
            <p:cNvSpPr/>
            <p:nvPr/>
          </p:nvSpPr>
          <p:spPr>
            <a:xfrm>
              <a:off x="277586" y="2824843"/>
              <a:ext cx="2514600" cy="723900"/>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lgn="ctr">
                <a:buNone/>
              </a:pPr>
              <a:r>
                <a:rPr lang="en-US" sz="1100">
                  <a:solidFill>
                    <a:srgbClr val="000000"/>
                  </a:solidFill>
                  <a:effectLst/>
                  <a:latin typeface="Times New Roman" panose="02020603050405020304" pitchFamily="18" charset="0"/>
                  <a:ea typeface="Times New Roman" panose="02020603050405020304" pitchFamily="18" charset="0"/>
                </a:rPr>
                <a:t> </a:t>
              </a:r>
              <a:endParaRPr lang="en-US" sz="1100">
                <a:effectLst/>
                <a:latin typeface="Times New Roman" panose="02020603050405020304" pitchFamily="18" charset="0"/>
                <a:ea typeface="Times New Roman" panose="02020603050405020304" pitchFamily="18" charset="0"/>
              </a:endParaRPr>
            </a:p>
          </p:txBody>
        </p:sp>
        <p:sp>
          <p:nvSpPr>
            <p:cNvPr id="9" name="Rectangle: Rounded Corners 8">
              <a:extLst>
                <a:ext uri="{FF2B5EF4-FFF2-40B4-BE49-F238E27FC236}">
                  <a16:creationId xmlns:a16="http://schemas.microsoft.com/office/drawing/2014/main" id="{D7F213FD-685E-9361-63DB-67227A72AF46}"/>
                </a:ext>
              </a:extLst>
            </p:cNvPr>
            <p:cNvSpPr/>
            <p:nvPr/>
          </p:nvSpPr>
          <p:spPr>
            <a:xfrm>
              <a:off x="97972" y="1616529"/>
              <a:ext cx="1397000" cy="905510"/>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lgn="ctr">
                <a:buNone/>
              </a:pPr>
              <a:r>
                <a:rPr lang="en-US" sz="1100">
                  <a:solidFill>
                    <a:srgbClr val="000000"/>
                  </a:solidFill>
                  <a:effectLst/>
                  <a:latin typeface="Times New Roman" panose="02020603050405020304" pitchFamily="18" charset="0"/>
                  <a:ea typeface="Times New Roman" panose="02020603050405020304" pitchFamily="18" charset="0"/>
                </a:rPr>
                <a:t> </a:t>
              </a:r>
              <a:endParaRPr lang="en-US" sz="1100">
                <a:effectLst/>
                <a:latin typeface="Times New Roman" panose="02020603050405020304" pitchFamily="18" charset="0"/>
                <a:ea typeface="Times New Roman" panose="02020603050405020304" pitchFamily="18" charset="0"/>
              </a:endParaRPr>
            </a:p>
          </p:txBody>
        </p:sp>
        <p:sp>
          <p:nvSpPr>
            <p:cNvPr id="10" name="Rectangle: Rounded Corners 9">
              <a:extLst>
                <a:ext uri="{FF2B5EF4-FFF2-40B4-BE49-F238E27FC236}">
                  <a16:creationId xmlns:a16="http://schemas.microsoft.com/office/drawing/2014/main" id="{5CF8DEE8-FD6E-EF76-E21E-A169A97CD939}"/>
                </a:ext>
              </a:extLst>
            </p:cNvPr>
            <p:cNvSpPr/>
            <p:nvPr/>
          </p:nvSpPr>
          <p:spPr>
            <a:xfrm>
              <a:off x="1970315" y="1502229"/>
              <a:ext cx="982980" cy="1104900"/>
            </a:xfrm>
            <a:prstGeom prst="round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lgn="ctr">
                <a:buNone/>
              </a:pPr>
              <a:r>
                <a:rPr lang="en-US" sz="1100">
                  <a:solidFill>
                    <a:srgbClr val="000000"/>
                  </a:solidFill>
                  <a:effectLst/>
                  <a:latin typeface="Times New Roman" panose="02020603050405020304" pitchFamily="18" charset="0"/>
                  <a:ea typeface="Times New Roman" panose="02020603050405020304" pitchFamily="18" charset="0"/>
                </a:rPr>
                <a:t> </a:t>
              </a:r>
              <a:endParaRPr lang="en-US" sz="1100">
                <a:effectLst/>
                <a:latin typeface="Times New Roman" panose="02020603050405020304" pitchFamily="18" charset="0"/>
                <a:ea typeface="Times New Roman" panose="02020603050405020304" pitchFamily="18" charset="0"/>
              </a:endParaRPr>
            </a:p>
          </p:txBody>
        </p:sp>
        <p:sp>
          <p:nvSpPr>
            <p:cNvPr id="11" name="Text Box 7">
              <a:extLst>
                <a:ext uri="{FF2B5EF4-FFF2-40B4-BE49-F238E27FC236}">
                  <a16:creationId xmlns:a16="http://schemas.microsoft.com/office/drawing/2014/main" id="{79B32969-80A2-08B9-5C3D-98D20E700C13}"/>
                </a:ext>
              </a:extLst>
            </p:cNvPr>
            <p:cNvSpPr txBox="1"/>
            <p:nvPr/>
          </p:nvSpPr>
          <p:spPr>
            <a:xfrm>
              <a:off x="1562100" y="157843"/>
              <a:ext cx="1493944" cy="270933"/>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buNone/>
              </a:pPr>
              <a:r>
                <a:rPr lang="en-US" sz="900" b="1" dirty="0">
                  <a:solidFill>
                    <a:srgbClr val="000000"/>
                  </a:solidFill>
                  <a:effectLst/>
                  <a:latin typeface="Times New Roman" panose="02020603050405020304" pitchFamily="18" charset="0"/>
                  <a:ea typeface="Times New Roman" panose="02020603050405020304" pitchFamily="18" charset="0"/>
                </a:rPr>
                <a:t>Data Preprocessing</a:t>
              </a:r>
              <a:endParaRPr lang="en-US" sz="1400" dirty="0">
                <a:effectLst/>
                <a:latin typeface="Times New Roman" panose="02020603050405020304" pitchFamily="18" charset="0"/>
                <a:ea typeface="Times New Roman" panose="02020603050405020304" pitchFamily="18" charset="0"/>
              </a:endParaRPr>
            </a:p>
            <a:p>
              <a:pPr marL="0" marR="0">
                <a:buNone/>
              </a:pPr>
              <a:r>
                <a:rPr lang="en-US" sz="800" dirty="0">
                  <a:effectLst/>
                  <a:latin typeface="Times New Roman" panose="02020603050405020304" pitchFamily="18" charset="0"/>
                  <a:ea typeface="Times New Roman" panose="02020603050405020304" pitchFamily="18" charset="0"/>
                </a:rPr>
                <a:t> </a:t>
              </a:r>
              <a:endParaRPr lang="en-US" sz="1100" dirty="0">
                <a:effectLst/>
                <a:latin typeface="Times New Roman" panose="02020603050405020304" pitchFamily="18" charset="0"/>
                <a:ea typeface="Times New Roman" panose="02020603050405020304" pitchFamily="18" charset="0"/>
              </a:endParaRPr>
            </a:p>
          </p:txBody>
        </p:sp>
        <p:sp>
          <p:nvSpPr>
            <p:cNvPr id="12" name="Text Box 1">
              <a:extLst>
                <a:ext uri="{FF2B5EF4-FFF2-40B4-BE49-F238E27FC236}">
                  <a16:creationId xmlns:a16="http://schemas.microsoft.com/office/drawing/2014/main" id="{9BAC608E-4334-EEF2-727B-7256D20916C3}"/>
                </a:ext>
              </a:extLst>
            </p:cNvPr>
            <p:cNvSpPr txBox="1"/>
            <p:nvPr/>
          </p:nvSpPr>
          <p:spPr>
            <a:xfrm>
              <a:off x="1665515" y="489856"/>
              <a:ext cx="592667" cy="559402"/>
            </a:xfrm>
            <a:prstGeom prst="rect">
              <a:avLst/>
            </a:prstGeom>
            <a:noFill/>
            <a:ln w="6350">
              <a:solidFill>
                <a:schemeClr val="tx1"/>
              </a:solid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buNone/>
              </a:pPr>
              <a:r>
                <a:rPr lang="en-US" sz="800" dirty="0">
                  <a:solidFill>
                    <a:srgbClr val="000000"/>
                  </a:solidFill>
                  <a:effectLst/>
                  <a:latin typeface="Times New Roman" panose="02020603050405020304" pitchFamily="18" charset="0"/>
                  <a:ea typeface="Times New Roman" panose="02020603050405020304" pitchFamily="18" charset="0"/>
                </a:rPr>
                <a:t>Data</a:t>
              </a:r>
              <a:endParaRPr lang="en-US" sz="1100" dirty="0">
                <a:effectLst/>
                <a:latin typeface="Times New Roman" panose="02020603050405020304" pitchFamily="18" charset="0"/>
                <a:ea typeface="Times New Roman" panose="02020603050405020304" pitchFamily="18" charset="0"/>
              </a:endParaRPr>
            </a:p>
            <a:p>
              <a:pPr marL="0" marR="0" algn="ctr">
                <a:buNone/>
              </a:pPr>
              <a:r>
                <a:rPr lang="en-US" sz="800" dirty="0">
                  <a:solidFill>
                    <a:srgbClr val="000000"/>
                  </a:solidFill>
                  <a:effectLst/>
                  <a:latin typeface="Times New Roman" panose="02020603050405020304" pitchFamily="18" charset="0"/>
                  <a:ea typeface="Times New Roman" panose="02020603050405020304" pitchFamily="18" charset="0"/>
                </a:rPr>
                <a:t>aggregation</a:t>
              </a:r>
              <a:endParaRPr lang="en-US" sz="1100" dirty="0">
                <a:effectLst/>
                <a:latin typeface="Times New Roman" panose="02020603050405020304" pitchFamily="18" charset="0"/>
                <a:ea typeface="Times New Roman" panose="02020603050405020304" pitchFamily="18" charset="0"/>
              </a:endParaRPr>
            </a:p>
          </p:txBody>
        </p:sp>
        <p:sp>
          <p:nvSpPr>
            <p:cNvPr id="13" name="Text Box 9">
              <a:extLst>
                <a:ext uri="{FF2B5EF4-FFF2-40B4-BE49-F238E27FC236}">
                  <a16:creationId xmlns:a16="http://schemas.microsoft.com/office/drawing/2014/main" id="{74AFC305-CA32-B4DE-0305-F7027498A052}"/>
                </a:ext>
              </a:extLst>
            </p:cNvPr>
            <p:cNvSpPr txBox="1"/>
            <p:nvPr/>
          </p:nvSpPr>
          <p:spPr>
            <a:xfrm>
              <a:off x="2476500" y="522515"/>
              <a:ext cx="516467" cy="446306"/>
            </a:xfrm>
            <a:prstGeom prst="rect">
              <a:avLst/>
            </a:prstGeom>
            <a:solidFill>
              <a:schemeClr val="lt1"/>
            </a:solidFill>
            <a:ln w="6350">
              <a:solidFill>
                <a:prstClr val="black"/>
              </a:solid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buNone/>
              </a:pPr>
              <a:r>
                <a:rPr lang="en-US" sz="900" dirty="0">
                  <a:effectLst/>
                  <a:latin typeface="Times New Roman" panose="02020603050405020304" pitchFamily="18" charset="0"/>
                  <a:ea typeface="Times New Roman" panose="02020603050405020304" pitchFamily="18" charset="0"/>
                </a:rPr>
                <a:t>Data cleaning</a:t>
              </a:r>
              <a:endParaRPr lang="en-US" sz="1400" dirty="0">
                <a:effectLst/>
                <a:latin typeface="Times New Roman" panose="02020603050405020304" pitchFamily="18" charset="0"/>
                <a:ea typeface="Times New Roman" panose="02020603050405020304" pitchFamily="18" charset="0"/>
              </a:endParaRPr>
            </a:p>
          </p:txBody>
        </p:sp>
        <p:sp>
          <p:nvSpPr>
            <p:cNvPr id="14" name="Text Box 10">
              <a:extLst>
                <a:ext uri="{FF2B5EF4-FFF2-40B4-BE49-F238E27FC236}">
                  <a16:creationId xmlns:a16="http://schemas.microsoft.com/office/drawing/2014/main" id="{F70A6768-476D-7533-6BC4-341986C8323B}"/>
                </a:ext>
              </a:extLst>
            </p:cNvPr>
            <p:cNvSpPr txBox="1"/>
            <p:nvPr/>
          </p:nvSpPr>
          <p:spPr>
            <a:xfrm>
              <a:off x="174172" y="1779816"/>
              <a:ext cx="546917" cy="465667"/>
            </a:xfrm>
            <a:prstGeom prst="rect">
              <a:avLst/>
            </a:prstGeom>
            <a:solidFill>
              <a:schemeClr val="lt1"/>
            </a:solidFill>
            <a:ln w="6350">
              <a:solidFill>
                <a:prstClr val="black"/>
              </a:solid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algn="just">
                <a:buNone/>
              </a:pPr>
              <a:r>
                <a:rPr lang="en-US" sz="700" dirty="0">
                  <a:effectLst/>
                  <a:latin typeface="Times New Roman" panose="02020603050405020304" pitchFamily="18" charset="0"/>
                  <a:ea typeface="Times New Roman" panose="02020603050405020304" pitchFamily="18" charset="0"/>
                </a:rPr>
                <a:t>Historical</a:t>
              </a:r>
              <a:r>
                <a:rPr lang="en-US" sz="1200" dirty="0">
                  <a:latin typeface="Times New Roman" panose="02020603050405020304" pitchFamily="18" charset="0"/>
                  <a:ea typeface="Times New Roman" panose="02020603050405020304" pitchFamily="18" charset="0"/>
                </a:rPr>
                <a:t> </a:t>
              </a:r>
              <a:r>
                <a:rPr lang="en-US" sz="700" dirty="0">
                  <a:effectLst/>
                  <a:latin typeface="Times New Roman" panose="02020603050405020304" pitchFamily="18" charset="0"/>
                  <a:ea typeface="Times New Roman" panose="02020603050405020304" pitchFamily="18" charset="0"/>
                </a:rPr>
                <a:t>Data</a:t>
              </a:r>
              <a:endParaRPr lang="en-US" sz="1200" dirty="0">
                <a:effectLst/>
                <a:latin typeface="Times New Roman" panose="02020603050405020304" pitchFamily="18" charset="0"/>
                <a:ea typeface="Times New Roman" panose="02020603050405020304" pitchFamily="18" charset="0"/>
              </a:endParaRPr>
            </a:p>
            <a:p>
              <a:pPr marL="0" marR="0" algn="just">
                <a:buNone/>
              </a:pPr>
              <a:r>
                <a:rPr lang="en-US" sz="700" dirty="0">
                  <a:effectLst/>
                  <a:latin typeface="Times New Roman" panose="02020603050405020304" pitchFamily="18" charset="0"/>
                  <a:ea typeface="Times New Roman" panose="02020603050405020304" pitchFamily="18" charset="0"/>
                </a:rPr>
                <a:t>       archive</a:t>
              </a:r>
              <a:endParaRPr lang="en-US" sz="1200" dirty="0">
                <a:effectLst/>
                <a:latin typeface="Times New Roman" panose="02020603050405020304" pitchFamily="18" charset="0"/>
                <a:ea typeface="Times New Roman" panose="02020603050405020304" pitchFamily="18" charset="0"/>
              </a:endParaRPr>
            </a:p>
          </p:txBody>
        </p:sp>
        <p:sp>
          <p:nvSpPr>
            <p:cNvPr id="15" name="Text Box 11">
              <a:extLst>
                <a:ext uri="{FF2B5EF4-FFF2-40B4-BE49-F238E27FC236}">
                  <a16:creationId xmlns:a16="http://schemas.microsoft.com/office/drawing/2014/main" id="{BE199B12-8622-7D46-3C2B-D88448242377}"/>
                </a:ext>
              </a:extLst>
            </p:cNvPr>
            <p:cNvSpPr txBox="1"/>
            <p:nvPr/>
          </p:nvSpPr>
          <p:spPr>
            <a:xfrm>
              <a:off x="794657" y="1779815"/>
              <a:ext cx="541866" cy="465455"/>
            </a:xfrm>
            <a:prstGeom prst="rect">
              <a:avLst/>
            </a:prstGeom>
            <a:solidFill>
              <a:schemeClr val="lt1"/>
            </a:solidFill>
            <a:ln w="6350">
              <a:solidFill>
                <a:prstClr val="black"/>
              </a:solid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buNone/>
              </a:pPr>
              <a:r>
                <a:rPr lang="en-US" sz="700" dirty="0">
                  <a:effectLst/>
                  <a:latin typeface="Times New Roman" panose="02020603050405020304" pitchFamily="18" charset="0"/>
                  <a:ea typeface="Times New Roman" panose="02020603050405020304" pitchFamily="18" charset="0"/>
                </a:rPr>
                <a:t>Realtime</a:t>
              </a:r>
              <a:endParaRPr lang="en-US" sz="1100" dirty="0">
                <a:effectLst/>
                <a:latin typeface="Times New Roman" panose="02020603050405020304" pitchFamily="18" charset="0"/>
                <a:ea typeface="Times New Roman" panose="02020603050405020304" pitchFamily="18" charset="0"/>
              </a:endParaRPr>
            </a:p>
            <a:p>
              <a:pPr marL="0" marR="0" algn="ctr">
                <a:buNone/>
              </a:pPr>
              <a:r>
                <a:rPr lang="en-US" sz="700" dirty="0">
                  <a:effectLst/>
                  <a:latin typeface="Times New Roman" panose="02020603050405020304" pitchFamily="18" charset="0"/>
                  <a:ea typeface="Times New Roman" panose="02020603050405020304" pitchFamily="18" charset="0"/>
                </a:rPr>
                <a:t>database</a:t>
              </a:r>
              <a:endParaRPr lang="en-US" sz="1100" dirty="0">
                <a:effectLst/>
                <a:latin typeface="Times New Roman" panose="02020603050405020304" pitchFamily="18" charset="0"/>
                <a:ea typeface="Times New Roman" panose="02020603050405020304" pitchFamily="18" charset="0"/>
              </a:endParaRPr>
            </a:p>
          </p:txBody>
        </p:sp>
        <p:sp>
          <p:nvSpPr>
            <p:cNvPr id="16" name="Text Box 13">
              <a:extLst>
                <a:ext uri="{FF2B5EF4-FFF2-40B4-BE49-F238E27FC236}">
                  <a16:creationId xmlns:a16="http://schemas.microsoft.com/office/drawing/2014/main" id="{F1A308C0-B138-C31C-8EE3-4BF96F4FE6E7}"/>
                </a:ext>
              </a:extLst>
            </p:cNvPr>
            <p:cNvSpPr txBox="1"/>
            <p:nvPr/>
          </p:nvSpPr>
          <p:spPr>
            <a:xfrm>
              <a:off x="2046515" y="1616528"/>
              <a:ext cx="840105" cy="304800"/>
            </a:xfrm>
            <a:prstGeom prst="rect">
              <a:avLst/>
            </a:prstGeom>
            <a:solidFill>
              <a:schemeClr val="lt1"/>
            </a:solidFill>
            <a:ln w="6350">
              <a:solidFill>
                <a:prstClr val="black"/>
              </a:solid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a:buNone/>
              </a:pPr>
              <a:r>
                <a:rPr lang="en-US" sz="700" dirty="0">
                  <a:solidFill>
                    <a:srgbClr val="000000"/>
                  </a:solidFill>
                  <a:effectLst/>
                  <a:latin typeface="Times New Roman" panose="02020603050405020304" pitchFamily="18" charset="0"/>
                  <a:ea typeface="Times New Roman" panose="02020603050405020304" pitchFamily="18" charset="0"/>
                </a:rPr>
                <a:t>Anomaly Detection module</a:t>
              </a:r>
              <a:endParaRPr lang="en-US" sz="1200" dirty="0">
                <a:effectLst/>
                <a:latin typeface="Times New Roman" panose="02020603050405020304" pitchFamily="18" charset="0"/>
                <a:ea typeface="Times New Roman" panose="02020603050405020304" pitchFamily="18" charset="0"/>
              </a:endParaRPr>
            </a:p>
          </p:txBody>
        </p:sp>
        <p:sp>
          <p:nvSpPr>
            <p:cNvPr id="17" name="Text Box 14">
              <a:extLst>
                <a:ext uri="{FF2B5EF4-FFF2-40B4-BE49-F238E27FC236}">
                  <a16:creationId xmlns:a16="http://schemas.microsoft.com/office/drawing/2014/main" id="{F64FC0CF-558B-F0BD-D4E0-2BA8D240E2B2}"/>
                </a:ext>
              </a:extLst>
            </p:cNvPr>
            <p:cNvSpPr txBox="1"/>
            <p:nvPr/>
          </p:nvSpPr>
          <p:spPr>
            <a:xfrm>
              <a:off x="2046515" y="2013858"/>
              <a:ext cx="807720" cy="342900"/>
            </a:xfrm>
            <a:prstGeom prst="rect">
              <a:avLst/>
            </a:prstGeom>
            <a:solidFill>
              <a:schemeClr val="lt1"/>
            </a:solidFill>
            <a:ln w="6350">
              <a:solidFill>
                <a:prstClr val="black"/>
              </a:solid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a:buNone/>
              </a:pPr>
              <a:r>
                <a:rPr lang="en-US" sz="700" dirty="0">
                  <a:solidFill>
                    <a:srgbClr val="000000"/>
                  </a:solidFill>
                  <a:effectLst/>
                  <a:latin typeface="Times New Roman" panose="02020603050405020304" pitchFamily="18" charset="0"/>
                  <a:ea typeface="Times New Roman" panose="02020603050405020304" pitchFamily="18" charset="0"/>
                </a:rPr>
                <a:t>Pattern Detection module</a:t>
              </a:r>
              <a:endParaRPr lang="en-US" sz="1200" dirty="0">
                <a:effectLst/>
                <a:latin typeface="Times New Roman" panose="02020603050405020304" pitchFamily="18" charset="0"/>
                <a:ea typeface="Times New Roman" panose="02020603050405020304" pitchFamily="18" charset="0"/>
              </a:endParaRPr>
            </a:p>
          </p:txBody>
        </p:sp>
        <p:sp>
          <p:nvSpPr>
            <p:cNvPr id="18" name="Text Box 15">
              <a:extLst>
                <a:ext uri="{FF2B5EF4-FFF2-40B4-BE49-F238E27FC236}">
                  <a16:creationId xmlns:a16="http://schemas.microsoft.com/office/drawing/2014/main" id="{CE6A5F80-0695-655D-AC25-3B53DE166377}"/>
                </a:ext>
              </a:extLst>
            </p:cNvPr>
            <p:cNvSpPr txBox="1"/>
            <p:nvPr/>
          </p:nvSpPr>
          <p:spPr>
            <a:xfrm>
              <a:off x="440872" y="2977243"/>
              <a:ext cx="894504" cy="338666"/>
            </a:xfrm>
            <a:prstGeom prst="rect">
              <a:avLst/>
            </a:prstGeom>
            <a:solidFill>
              <a:schemeClr val="lt1"/>
            </a:solidFill>
            <a:ln w="6350">
              <a:solidFill>
                <a:prstClr val="black"/>
              </a:solid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buNone/>
              </a:pPr>
              <a:r>
                <a:rPr lang="en-US" sz="900" dirty="0">
                  <a:effectLst/>
                  <a:latin typeface="Times New Roman" panose="02020603050405020304" pitchFamily="18" charset="0"/>
                  <a:ea typeface="Times New Roman" panose="02020603050405020304" pitchFamily="18" charset="0"/>
                </a:rPr>
                <a:t>Alert system</a:t>
              </a:r>
              <a:endParaRPr lang="en-US" sz="1100" dirty="0">
                <a:effectLst/>
                <a:latin typeface="Times New Roman" panose="02020603050405020304" pitchFamily="18" charset="0"/>
                <a:ea typeface="Times New Roman" panose="02020603050405020304" pitchFamily="18" charset="0"/>
              </a:endParaRPr>
            </a:p>
          </p:txBody>
        </p:sp>
        <p:sp>
          <p:nvSpPr>
            <p:cNvPr id="19" name="Text Box 17">
              <a:extLst>
                <a:ext uri="{FF2B5EF4-FFF2-40B4-BE49-F238E27FC236}">
                  <a16:creationId xmlns:a16="http://schemas.microsoft.com/office/drawing/2014/main" id="{34FB19A6-7E1A-834E-2694-495FB7581F79}"/>
                </a:ext>
              </a:extLst>
            </p:cNvPr>
            <p:cNvSpPr txBox="1"/>
            <p:nvPr/>
          </p:nvSpPr>
          <p:spPr>
            <a:xfrm>
              <a:off x="1665515" y="2982686"/>
              <a:ext cx="938530" cy="312420"/>
            </a:xfrm>
            <a:prstGeom prst="rect">
              <a:avLst/>
            </a:prstGeom>
            <a:solidFill>
              <a:schemeClr val="lt1"/>
            </a:solidFill>
            <a:ln w="6350">
              <a:solidFill>
                <a:prstClr val="black"/>
              </a:solid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buNone/>
              </a:pPr>
              <a:r>
                <a:rPr lang="en-US" sz="900" dirty="0">
                  <a:effectLst/>
                  <a:latin typeface="Times New Roman" panose="02020603050405020304" pitchFamily="18" charset="0"/>
                  <a:ea typeface="Times New Roman" panose="02020603050405020304" pitchFamily="18" charset="0"/>
                </a:rPr>
                <a:t>Dashboards</a:t>
              </a:r>
              <a:endParaRPr lang="en-US" sz="1000" dirty="0">
                <a:effectLst/>
                <a:latin typeface="Times New Roman" panose="02020603050405020304" pitchFamily="18" charset="0"/>
                <a:ea typeface="Times New Roman" panose="02020603050405020304" pitchFamily="18" charset="0"/>
              </a:endParaRPr>
            </a:p>
          </p:txBody>
        </p:sp>
        <p:cxnSp>
          <p:nvCxnSpPr>
            <p:cNvPr id="20" name="Connector: Elbow 19">
              <a:extLst>
                <a:ext uri="{FF2B5EF4-FFF2-40B4-BE49-F238E27FC236}">
                  <a16:creationId xmlns:a16="http://schemas.microsoft.com/office/drawing/2014/main" id="{5DED34E9-9920-33F2-9D8A-180AC5BBBE0B}"/>
                </a:ext>
              </a:extLst>
            </p:cNvPr>
            <p:cNvCxnSpPr/>
            <p:nvPr/>
          </p:nvCxnSpPr>
          <p:spPr>
            <a:xfrm>
              <a:off x="1268186" y="566058"/>
              <a:ext cx="397933" cy="177800"/>
            </a:xfrm>
            <a:prstGeom prst="bent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6F1183C7-B544-DE86-02EC-0CD1A0261552}"/>
                </a:ext>
              </a:extLst>
            </p:cNvPr>
            <p:cNvCxnSpPr/>
            <p:nvPr/>
          </p:nvCxnSpPr>
          <p:spPr>
            <a:xfrm>
              <a:off x="2258786" y="718458"/>
              <a:ext cx="222096"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Connector: Elbow 21">
              <a:extLst>
                <a:ext uri="{FF2B5EF4-FFF2-40B4-BE49-F238E27FC236}">
                  <a16:creationId xmlns:a16="http://schemas.microsoft.com/office/drawing/2014/main" id="{384083AA-9224-6456-BA27-8582E0E1F6F2}"/>
                </a:ext>
              </a:extLst>
            </p:cNvPr>
            <p:cNvCxnSpPr/>
            <p:nvPr/>
          </p:nvCxnSpPr>
          <p:spPr>
            <a:xfrm flipH="1">
              <a:off x="1306286" y="1861458"/>
              <a:ext cx="741680" cy="1270000"/>
            </a:xfrm>
            <a:prstGeom prst="bentConnector3">
              <a:avLst>
                <a:gd name="adj1" fmla="val 65068"/>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Connector: Elbow 22">
              <a:extLst>
                <a:ext uri="{FF2B5EF4-FFF2-40B4-BE49-F238E27FC236}">
                  <a16:creationId xmlns:a16="http://schemas.microsoft.com/office/drawing/2014/main" id="{152DFDF5-A97D-6EDB-B7DE-4085A30D01C2}"/>
                </a:ext>
              </a:extLst>
            </p:cNvPr>
            <p:cNvCxnSpPr/>
            <p:nvPr/>
          </p:nvCxnSpPr>
          <p:spPr>
            <a:xfrm>
              <a:off x="1338943" y="1986643"/>
              <a:ext cx="710565" cy="193040"/>
            </a:xfrm>
            <a:prstGeom prst="bentConnector3">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557D95B5-647F-8C6F-BCA5-8F81DC0348E4}"/>
                </a:ext>
              </a:extLst>
            </p:cNvPr>
            <p:cNvCxnSpPr/>
            <p:nvPr/>
          </p:nvCxnSpPr>
          <p:spPr>
            <a:xfrm>
              <a:off x="2188029" y="2356758"/>
              <a:ext cx="0" cy="62738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FCD3C8A0-04E7-5FE2-3C8A-EEF021404C39}"/>
                </a:ext>
              </a:extLst>
            </p:cNvPr>
            <p:cNvCxnSpPr/>
            <p:nvPr/>
          </p:nvCxnSpPr>
          <p:spPr>
            <a:xfrm>
              <a:off x="2688772" y="963386"/>
              <a:ext cx="0" cy="65722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Connector: Elbow 25">
              <a:extLst>
                <a:ext uri="{FF2B5EF4-FFF2-40B4-BE49-F238E27FC236}">
                  <a16:creationId xmlns:a16="http://schemas.microsoft.com/office/drawing/2014/main" id="{763274BF-1DD9-4CAA-3D64-FA6B157EB680}"/>
                </a:ext>
              </a:extLst>
            </p:cNvPr>
            <p:cNvCxnSpPr/>
            <p:nvPr/>
          </p:nvCxnSpPr>
          <p:spPr>
            <a:xfrm>
              <a:off x="440872" y="2237015"/>
              <a:ext cx="1533525" cy="495300"/>
            </a:xfrm>
            <a:prstGeom prst="bentConnector3">
              <a:avLst>
                <a:gd name="adj1" fmla="val 932"/>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1B6F748F-9A51-C262-B850-6A67B32B3054}"/>
                </a:ext>
              </a:extLst>
            </p:cNvPr>
            <p:cNvCxnSpPr/>
            <p:nvPr/>
          </p:nvCxnSpPr>
          <p:spPr>
            <a:xfrm>
              <a:off x="1975757" y="2732315"/>
              <a:ext cx="0" cy="24765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Connector: Elbow 27">
              <a:extLst>
                <a:ext uri="{FF2B5EF4-FFF2-40B4-BE49-F238E27FC236}">
                  <a16:creationId xmlns:a16="http://schemas.microsoft.com/office/drawing/2014/main" id="{1DAA11F9-41A0-7543-C2BC-27CA11763386}"/>
                </a:ext>
              </a:extLst>
            </p:cNvPr>
            <p:cNvCxnSpPr>
              <a:cxnSpLocks/>
            </p:cNvCxnSpPr>
            <p:nvPr/>
          </p:nvCxnSpPr>
          <p:spPr>
            <a:xfrm flipH="1">
              <a:off x="1055915" y="957943"/>
              <a:ext cx="1548130" cy="412931"/>
            </a:xfrm>
            <a:prstGeom prst="bentConnector3">
              <a:avLst>
                <a:gd name="adj1" fmla="val -5"/>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7AA1BFDA-AA4C-0277-A7E0-5888DCAA24F4}"/>
                </a:ext>
              </a:extLst>
            </p:cNvPr>
            <p:cNvCxnSpPr/>
            <p:nvPr/>
          </p:nvCxnSpPr>
          <p:spPr>
            <a:xfrm>
              <a:off x="1055915" y="1371600"/>
              <a:ext cx="0" cy="40730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0" name="Text Box 50">
              <a:extLst>
                <a:ext uri="{FF2B5EF4-FFF2-40B4-BE49-F238E27FC236}">
                  <a16:creationId xmlns:a16="http://schemas.microsoft.com/office/drawing/2014/main" id="{8BFDA786-8186-6031-FB71-9C1231771ED7}"/>
                </a:ext>
              </a:extLst>
            </p:cNvPr>
            <p:cNvSpPr txBox="1"/>
            <p:nvPr/>
          </p:nvSpPr>
          <p:spPr>
            <a:xfrm>
              <a:off x="500743" y="2242458"/>
              <a:ext cx="628650" cy="22860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buNone/>
              </a:pPr>
              <a:r>
                <a:rPr lang="en-US" sz="900" b="1" dirty="0">
                  <a:effectLst/>
                  <a:latin typeface="Times New Roman" panose="02020603050405020304" pitchFamily="18" charset="0"/>
                  <a:ea typeface="Times New Roman" panose="02020603050405020304" pitchFamily="18" charset="0"/>
                </a:rPr>
                <a:t>storage</a:t>
              </a:r>
              <a:endParaRPr lang="en-US" sz="1400" dirty="0">
                <a:effectLst/>
                <a:latin typeface="Times New Roman" panose="02020603050405020304" pitchFamily="18" charset="0"/>
                <a:ea typeface="Times New Roman" panose="02020603050405020304" pitchFamily="18" charset="0"/>
              </a:endParaRPr>
            </a:p>
          </p:txBody>
        </p:sp>
        <p:sp>
          <p:nvSpPr>
            <p:cNvPr id="31" name="Text Box 51">
              <a:extLst>
                <a:ext uri="{FF2B5EF4-FFF2-40B4-BE49-F238E27FC236}">
                  <a16:creationId xmlns:a16="http://schemas.microsoft.com/office/drawing/2014/main" id="{857E455C-C3DC-B822-E393-219FF114937F}"/>
                </a:ext>
              </a:extLst>
            </p:cNvPr>
            <p:cNvSpPr txBox="1"/>
            <p:nvPr/>
          </p:nvSpPr>
          <p:spPr>
            <a:xfrm>
              <a:off x="2084615" y="2367643"/>
              <a:ext cx="802005" cy="20320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buNone/>
              </a:pPr>
              <a:r>
                <a:rPr lang="en-US" sz="800" b="1" dirty="0">
                  <a:effectLst/>
                  <a:latin typeface="Times New Roman" panose="02020603050405020304" pitchFamily="18" charset="0"/>
                  <a:ea typeface="Times New Roman" panose="02020603050405020304" pitchFamily="18" charset="0"/>
                </a:rPr>
                <a:t>AI/ML Analysis</a:t>
              </a:r>
              <a:endParaRPr lang="en-US" sz="1200" dirty="0">
                <a:effectLst/>
                <a:latin typeface="Times New Roman" panose="02020603050405020304" pitchFamily="18" charset="0"/>
                <a:ea typeface="Times New Roman" panose="02020603050405020304" pitchFamily="18" charset="0"/>
              </a:endParaRPr>
            </a:p>
          </p:txBody>
        </p:sp>
        <p:sp>
          <p:nvSpPr>
            <p:cNvPr id="32" name="Text Box 52">
              <a:extLst>
                <a:ext uri="{FF2B5EF4-FFF2-40B4-BE49-F238E27FC236}">
                  <a16:creationId xmlns:a16="http://schemas.microsoft.com/office/drawing/2014/main" id="{D539368D-309E-81A0-EF27-03A8F516CD50}"/>
                </a:ext>
              </a:extLst>
            </p:cNvPr>
            <p:cNvSpPr txBox="1"/>
            <p:nvPr/>
          </p:nvSpPr>
          <p:spPr>
            <a:xfrm>
              <a:off x="441507" y="3297828"/>
              <a:ext cx="2106930" cy="25400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buNone/>
              </a:pPr>
              <a:r>
                <a:rPr lang="en-US" sz="900" b="1" dirty="0">
                  <a:effectLst/>
                  <a:latin typeface="Times New Roman" panose="02020603050405020304" pitchFamily="18" charset="0"/>
                  <a:ea typeface="Times New Roman" panose="02020603050405020304" pitchFamily="18" charset="0"/>
                </a:rPr>
                <a:t>Visualization &amp; reporting</a:t>
              </a:r>
              <a:endParaRPr lang="en-US" sz="1400" dirty="0">
                <a:effectLst/>
                <a:latin typeface="Times New Roman" panose="02020603050405020304" pitchFamily="18" charset="0"/>
                <a:ea typeface="Times New Roman" panose="02020603050405020304" pitchFamily="18" charset="0"/>
              </a:endParaRPr>
            </a:p>
          </p:txBody>
        </p:sp>
      </p:grpSp>
    </p:spTree>
    <p:extLst>
      <p:ext uri="{BB962C8B-B14F-4D97-AF65-F5344CB8AC3E}">
        <p14:creationId xmlns:p14="http://schemas.microsoft.com/office/powerpoint/2010/main" val="27050829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1AE20C-96D3-29C1-511A-252041B8928B}"/>
              </a:ext>
            </a:extLst>
          </p:cNvPr>
          <p:cNvSpPr>
            <a:spLocks noGrp="1"/>
          </p:cNvSpPr>
          <p:nvPr>
            <p:ph type="title"/>
          </p:nvPr>
        </p:nvSpPr>
        <p:spPr>
          <a:xfrm>
            <a:off x="2133600" y="819150"/>
            <a:ext cx="4750526" cy="615553"/>
          </a:xfrm>
        </p:spPr>
        <p:txBody>
          <a:bodyPr/>
          <a:lstStyle/>
          <a:p>
            <a:pPr algn="ctr"/>
            <a:r>
              <a:rPr lang="en-IN" sz="2000" dirty="0">
                <a:solidFill>
                  <a:schemeClr val="tx1"/>
                </a:solidFill>
                <a:latin typeface="Times New Roman" panose="02020603050405020304" pitchFamily="18" charset="0"/>
                <a:cs typeface="Times New Roman" panose="02020603050405020304" pitchFamily="18" charset="0"/>
              </a:rPr>
              <a:t>DEVELOPMENT OF THE PROJECT</a:t>
            </a:r>
          </a:p>
        </p:txBody>
      </p:sp>
      <p:sp>
        <p:nvSpPr>
          <p:cNvPr id="6" name="Rectangle 2">
            <a:extLst>
              <a:ext uri="{FF2B5EF4-FFF2-40B4-BE49-F238E27FC236}">
                <a16:creationId xmlns:a16="http://schemas.microsoft.com/office/drawing/2014/main" id="{98861F8D-7F50-AAF5-D38E-BDA2077E735E}"/>
              </a:ext>
            </a:extLst>
          </p:cNvPr>
          <p:cNvSpPr>
            <a:spLocks noChangeArrowheads="1"/>
          </p:cNvSpPr>
          <p:nvPr/>
        </p:nvSpPr>
        <p:spPr bwMode="auto">
          <a:xfrm rot="10800000" flipV="1">
            <a:off x="609600" y="1581150"/>
            <a:ext cx="7924800" cy="2800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r>
              <a:rPr lang="en-US" sz="1600" dirty="0">
                <a:latin typeface="Times New Roman" panose="02020603050405020304" pitchFamily="18" charset="0"/>
                <a:cs typeface="Times New Roman" panose="02020603050405020304" pitchFamily="18" charset="0"/>
              </a:rPr>
              <a:t>The project development progressed through multiple modeling approaches to strengthen ozone forecasting.</a:t>
            </a:r>
          </a:p>
          <a:p>
            <a:pPr algn="just"/>
            <a:endParaRPr lang="en-US" sz="1600" dirty="0">
              <a:latin typeface="Times New Roman" panose="02020603050405020304" pitchFamily="18" charset="0"/>
              <a:cs typeface="Times New Roman" panose="02020603050405020304" pitchFamily="18" charset="0"/>
            </a:endParaRPr>
          </a:p>
          <a:p>
            <a:pPr algn="just"/>
            <a:r>
              <a:rPr lang="en-US" sz="1600" b="1" dirty="0">
                <a:latin typeface="Times New Roman" panose="02020603050405020304" pitchFamily="18" charset="0"/>
                <a:cs typeface="Times New Roman" panose="02020603050405020304" pitchFamily="18" charset="0"/>
              </a:rPr>
              <a:t>Linear Regression:</a:t>
            </a:r>
            <a:r>
              <a:rPr lang="en-US" sz="1600" dirty="0">
                <a:latin typeface="Times New Roman" panose="02020603050405020304" pitchFamily="18" charset="0"/>
                <a:cs typeface="Times New Roman" panose="02020603050405020304" pitchFamily="18" charset="0"/>
              </a:rPr>
              <a:t> Linear Regression was first implemented to establish a simple, interpretable relationship between environmental factors and ozone concentration, serving as the baseline model.</a:t>
            </a:r>
          </a:p>
          <a:p>
            <a:pPr algn="just"/>
            <a:endParaRPr lang="en-US" sz="1600" dirty="0">
              <a:latin typeface="Times New Roman" panose="02020603050405020304" pitchFamily="18" charset="0"/>
              <a:cs typeface="Times New Roman" panose="02020603050405020304" pitchFamily="18" charset="0"/>
            </a:endParaRPr>
          </a:p>
          <a:p>
            <a:pPr algn="just"/>
            <a:r>
              <a:rPr lang="en-US" sz="1600" b="1" dirty="0">
                <a:latin typeface="Times New Roman" panose="02020603050405020304" pitchFamily="18" charset="0"/>
                <a:cs typeface="Times New Roman" panose="02020603050405020304" pitchFamily="18" charset="0"/>
              </a:rPr>
              <a:t>ARIMA(</a:t>
            </a:r>
            <a:r>
              <a:rPr lang="en-US" sz="1600" dirty="0"/>
              <a:t>Auto Regressive Integrated Moving Average</a:t>
            </a:r>
            <a:r>
              <a:rPr lang="en-US" sz="1600" b="1" dirty="0">
                <a:latin typeface="Times New Roman" panose="02020603050405020304" pitchFamily="18" charset="0"/>
                <a:cs typeface="Times New Roman" panose="02020603050405020304" pitchFamily="18" charset="0"/>
              </a:rPr>
              <a:t>)</a:t>
            </a:r>
            <a:r>
              <a:rPr lang="en-US" sz="1600" b="1" dirty="0"/>
              <a:t>:</a:t>
            </a:r>
            <a:r>
              <a:rPr lang="en-US" sz="1600" b="1" dirty="0">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cs typeface="Times New Roman" panose="02020603050405020304" pitchFamily="18" charset="0"/>
              </a:rPr>
              <a:t>was then applied for short-term time-series forecasting, capturing seasonal cycles and linear patterns in historical ozone variability, achieving moderate accuracy.</a:t>
            </a:r>
          </a:p>
          <a:p>
            <a:pPr algn="just"/>
            <a:endParaRPr 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980259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40E956E-B336-B2DE-2A03-5D83312113E9}"/>
              </a:ext>
            </a:extLst>
          </p:cNvPr>
          <p:cNvSpPr txBox="1"/>
          <p:nvPr/>
        </p:nvSpPr>
        <p:spPr>
          <a:xfrm>
            <a:off x="609600" y="1276350"/>
            <a:ext cx="7924800" cy="1200329"/>
          </a:xfrm>
          <a:prstGeom prst="rect">
            <a:avLst/>
          </a:prstGeom>
          <a:noFill/>
        </p:spPr>
        <p:txBody>
          <a:bodyPr wrap="square">
            <a:spAutoFit/>
          </a:bodyPr>
          <a:lstStyle/>
          <a:p>
            <a:pPr algn="just"/>
            <a:r>
              <a:rPr lang="en-US" sz="1800" b="1" dirty="0">
                <a:latin typeface="Times New Roman" panose="02020603050405020304" pitchFamily="18" charset="0"/>
                <a:cs typeface="Times New Roman" panose="02020603050405020304" pitchFamily="18" charset="0"/>
              </a:rPr>
              <a:t>LSTM(</a:t>
            </a:r>
            <a:r>
              <a:rPr lang="en-US" sz="1800" dirty="0"/>
              <a:t>Long Short-Term Memory</a:t>
            </a:r>
            <a:r>
              <a:rPr lang="en-US" b="1" dirty="0">
                <a:latin typeface="Times New Roman" panose="02020603050405020304" pitchFamily="18" charset="0"/>
                <a:cs typeface="Times New Roman" panose="02020603050405020304" pitchFamily="18" charset="0"/>
              </a:rPr>
              <a:t>)</a:t>
            </a:r>
            <a:r>
              <a:rPr lang="en-US" sz="1800" b="1" dirty="0"/>
              <a:t>:</a:t>
            </a:r>
            <a:r>
              <a:rPr lang="en-US" sz="1800" b="1"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was finally developed as the advanced deep learning model, capable of handling long-term dependencies and non-linear behaviors in environmental data. This stage delivered the highest accuracy and reliability, making it the most effective model in the project.</a:t>
            </a:r>
          </a:p>
        </p:txBody>
      </p:sp>
      <p:graphicFrame>
        <p:nvGraphicFramePr>
          <p:cNvPr id="6" name="Table 5">
            <a:extLst>
              <a:ext uri="{FF2B5EF4-FFF2-40B4-BE49-F238E27FC236}">
                <a16:creationId xmlns:a16="http://schemas.microsoft.com/office/drawing/2014/main" id="{040E19C0-F2A5-3513-86B5-C4A002863BE8}"/>
              </a:ext>
            </a:extLst>
          </p:cNvPr>
          <p:cNvGraphicFramePr>
            <a:graphicFrameLocks noGrp="1"/>
          </p:cNvGraphicFramePr>
          <p:nvPr>
            <p:extLst>
              <p:ext uri="{D42A27DB-BD31-4B8C-83A1-F6EECF244321}">
                <p14:modId xmlns:p14="http://schemas.microsoft.com/office/powerpoint/2010/main" val="444806295"/>
              </p:ext>
            </p:extLst>
          </p:nvPr>
        </p:nvGraphicFramePr>
        <p:xfrm>
          <a:off x="2133600" y="2642856"/>
          <a:ext cx="4571999" cy="1589126"/>
        </p:xfrm>
        <a:graphic>
          <a:graphicData uri="http://schemas.openxmlformats.org/drawingml/2006/table">
            <a:tbl>
              <a:tblPr>
                <a:tableStyleId>{5C22544A-7EE6-4342-B048-85BDC9FD1C3A}</a:tableStyleId>
              </a:tblPr>
              <a:tblGrid>
                <a:gridCol w="1026981">
                  <a:extLst>
                    <a:ext uri="{9D8B030D-6E8A-4147-A177-3AD203B41FA5}">
                      <a16:colId xmlns:a16="http://schemas.microsoft.com/office/drawing/2014/main" val="3197826561"/>
                    </a:ext>
                  </a:extLst>
                </a:gridCol>
                <a:gridCol w="580094">
                  <a:extLst>
                    <a:ext uri="{9D8B030D-6E8A-4147-A177-3AD203B41FA5}">
                      <a16:colId xmlns:a16="http://schemas.microsoft.com/office/drawing/2014/main" val="4196762452"/>
                    </a:ext>
                  </a:extLst>
                </a:gridCol>
                <a:gridCol w="580094">
                  <a:extLst>
                    <a:ext uri="{9D8B030D-6E8A-4147-A177-3AD203B41FA5}">
                      <a16:colId xmlns:a16="http://schemas.microsoft.com/office/drawing/2014/main" val="3671139468"/>
                    </a:ext>
                  </a:extLst>
                </a:gridCol>
                <a:gridCol w="2384830">
                  <a:extLst>
                    <a:ext uri="{9D8B030D-6E8A-4147-A177-3AD203B41FA5}">
                      <a16:colId xmlns:a16="http://schemas.microsoft.com/office/drawing/2014/main" val="2669687451"/>
                    </a:ext>
                  </a:extLst>
                </a:gridCol>
              </a:tblGrid>
              <a:tr h="309894">
                <a:tc>
                  <a:txBody>
                    <a:bodyPr/>
                    <a:lstStyle/>
                    <a:p>
                      <a:pPr algn="ctr">
                        <a:lnSpc>
                          <a:spcPct val="115000"/>
                        </a:lnSpc>
                        <a:buNone/>
                      </a:pPr>
                      <a:r>
                        <a:rPr lang="en-US" sz="900" b="1" kern="100" dirty="0">
                          <a:effectLst/>
                        </a:rPr>
                        <a:t>Model</a:t>
                      </a:r>
                      <a:endParaRPr lang="en-US" sz="1100" b="1"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2700" marR="12700" marT="12700" marB="127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a:txBody>
                    <a:bodyPr/>
                    <a:lstStyle/>
                    <a:p>
                      <a:pPr algn="ctr">
                        <a:lnSpc>
                          <a:spcPct val="115000"/>
                        </a:lnSpc>
                        <a:buNone/>
                      </a:pPr>
                      <a:r>
                        <a:rPr lang="en-US" sz="900" b="1" kern="100" dirty="0">
                          <a:effectLst/>
                        </a:rPr>
                        <a:t>R² Score</a:t>
                      </a:r>
                      <a:endParaRPr lang="en-US" sz="1100" b="1"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2700" marR="12700" marT="12700" marB="127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a:txBody>
                    <a:bodyPr/>
                    <a:lstStyle/>
                    <a:p>
                      <a:pPr algn="ctr">
                        <a:lnSpc>
                          <a:spcPct val="115000"/>
                        </a:lnSpc>
                        <a:buNone/>
                      </a:pPr>
                      <a:r>
                        <a:rPr lang="en-US" sz="900" b="1" kern="100" dirty="0">
                          <a:effectLst/>
                        </a:rPr>
                        <a:t>RMSE</a:t>
                      </a:r>
                      <a:endParaRPr lang="en-US" sz="1100" b="1"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2700" marR="12700" marT="12700" marB="127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a:txBody>
                    <a:bodyPr/>
                    <a:lstStyle/>
                    <a:p>
                      <a:pPr algn="ctr">
                        <a:lnSpc>
                          <a:spcPct val="115000"/>
                        </a:lnSpc>
                        <a:buNone/>
                      </a:pPr>
                      <a:r>
                        <a:rPr lang="en-US" sz="900" b="1" kern="100" dirty="0">
                          <a:effectLst/>
                        </a:rPr>
                        <a:t>Best Use Case</a:t>
                      </a:r>
                      <a:endParaRPr lang="en-US" sz="1100" b="1"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2700" marR="12700" marT="12700" marB="127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extLst>
                  <a:ext uri="{0D108BD9-81ED-4DB2-BD59-A6C34878D82A}">
                    <a16:rowId xmlns:a16="http://schemas.microsoft.com/office/drawing/2014/main" val="804823629"/>
                  </a:ext>
                </a:extLst>
              </a:tr>
              <a:tr h="381000">
                <a:tc>
                  <a:txBody>
                    <a:bodyPr/>
                    <a:lstStyle/>
                    <a:p>
                      <a:pPr algn="ctr">
                        <a:lnSpc>
                          <a:spcPct val="115000"/>
                        </a:lnSpc>
                        <a:buNone/>
                      </a:pPr>
                      <a:r>
                        <a:rPr lang="en-US" sz="900" kern="100" dirty="0">
                          <a:effectLst/>
                        </a:rPr>
                        <a:t>Linear Regression</a:t>
                      </a:r>
                      <a:endParaRPr lang="en-US" sz="11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2700" marR="12700" marT="12700" marB="127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15000"/>
                        </a:lnSpc>
                        <a:buNone/>
                      </a:pPr>
                      <a:r>
                        <a:rPr lang="en-US" sz="900" kern="100" dirty="0">
                          <a:effectLst/>
                        </a:rPr>
                        <a:t>0.65</a:t>
                      </a:r>
                      <a:endParaRPr lang="en-US" sz="11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2700" marR="12700" marT="12700" marB="127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15000"/>
                        </a:lnSpc>
                        <a:buNone/>
                      </a:pPr>
                      <a:r>
                        <a:rPr lang="en-US" sz="900" kern="100">
                          <a:effectLst/>
                        </a:rPr>
                        <a:t>High</a:t>
                      </a:r>
                      <a:endParaRPr lang="en-US" sz="11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2700" marR="12700" marT="12700" marB="127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15000"/>
                        </a:lnSpc>
                        <a:buNone/>
                      </a:pPr>
                      <a:r>
                        <a:rPr lang="en-US" sz="900" kern="100" dirty="0">
                          <a:effectLst/>
                        </a:rPr>
                        <a:t>Simple baseline trend detection</a:t>
                      </a:r>
                      <a:endParaRPr lang="en-US" sz="11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2700" marR="12700" marT="12700" marB="127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44875476"/>
                  </a:ext>
                </a:extLst>
              </a:tr>
              <a:tr h="449116">
                <a:tc>
                  <a:txBody>
                    <a:bodyPr/>
                    <a:lstStyle/>
                    <a:p>
                      <a:pPr algn="ctr">
                        <a:lnSpc>
                          <a:spcPct val="115000"/>
                        </a:lnSpc>
                        <a:buNone/>
                      </a:pPr>
                      <a:r>
                        <a:rPr lang="en-US" sz="900" kern="100">
                          <a:effectLst/>
                        </a:rPr>
                        <a:t>ARIMA</a:t>
                      </a:r>
                      <a:endParaRPr lang="en-US" sz="11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2700" marR="12700" marT="12700" marB="127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15000"/>
                        </a:lnSpc>
                        <a:buNone/>
                      </a:pPr>
                      <a:r>
                        <a:rPr lang="en-US" sz="900" kern="100" dirty="0">
                          <a:effectLst/>
                        </a:rPr>
                        <a:t>0.78</a:t>
                      </a:r>
                      <a:endParaRPr lang="en-US" sz="11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2700" marR="12700" marT="12700" marB="127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15000"/>
                        </a:lnSpc>
                        <a:buNone/>
                      </a:pPr>
                      <a:r>
                        <a:rPr lang="en-US" sz="900" kern="100" dirty="0">
                          <a:effectLst/>
                        </a:rPr>
                        <a:t>Medium</a:t>
                      </a:r>
                      <a:endParaRPr lang="en-US" sz="11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2700" marR="12700" marT="12700" marB="127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15000"/>
                        </a:lnSpc>
                        <a:buNone/>
                      </a:pPr>
                      <a:r>
                        <a:rPr lang="en-US" sz="900" kern="100" dirty="0">
                          <a:effectLst/>
                        </a:rPr>
                        <a:t>Short-term forecasting of seasonal cycles</a:t>
                      </a:r>
                      <a:endParaRPr lang="en-US" sz="11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2700" marR="12700" marT="12700" marB="127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16654414"/>
                  </a:ext>
                </a:extLst>
              </a:tr>
              <a:tr h="449116">
                <a:tc>
                  <a:txBody>
                    <a:bodyPr/>
                    <a:lstStyle/>
                    <a:p>
                      <a:pPr algn="ctr">
                        <a:lnSpc>
                          <a:spcPct val="115000"/>
                        </a:lnSpc>
                        <a:buNone/>
                      </a:pPr>
                      <a:r>
                        <a:rPr lang="en-US" sz="900" kern="100">
                          <a:effectLst/>
                        </a:rPr>
                        <a:t>LSTM</a:t>
                      </a:r>
                      <a:endParaRPr lang="en-US" sz="11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2700" marR="12700" marT="12700" marB="127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15000"/>
                        </a:lnSpc>
                        <a:buNone/>
                      </a:pPr>
                      <a:r>
                        <a:rPr lang="en-US" sz="900" kern="100">
                          <a:effectLst/>
                        </a:rPr>
                        <a:t>0.92</a:t>
                      </a:r>
                      <a:endParaRPr lang="en-US" sz="11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2700" marR="12700" marT="12700" marB="127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15000"/>
                        </a:lnSpc>
                        <a:buNone/>
                      </a:pPr>
                      <a:r>
                        <a:rPr lang="en-US" sz="900" kern="100">
                          <a:effectLst/>
                        </a:rPr>
                        <a:t>Low</a:t>
                      </a:r>
                      <a:endParaRPr lang="en-US" sz="11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2700" marR="12700" marT="12700" marB="127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15000"/>
                        </a:lnSpc>
                        <a:buNone/>
                      </a:pPr>
                      <a:r>
                        <a:rPr lang="en-US" sz="900" kern="100" dirty="0">
                          <a:effectLst/>
                        </a:rPr>
                        <a:t>Long-term forecasting &amp; anomaly detection</a:t>
                      </a:r>
                      <a:endParaRPr lang="en-US" sz="11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2700" marR="12700" marT="12700" marB="127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9338214"/>
                  </a:ext>
                </a:extLst>
              </a:tr>
            </a:tbl>
          </a:graphicData>
        </a:graphic>
      </p:graphicFrame>
    </p:spTree>
    <p:extLst>
      <p:ext uri="{BB962C8B-B14F-4D97-AF65-F5344CB8AC3E}">
        <p14:creationId xmlns:p14="http://schemas.microsoft.com/office/powerpoint/2010/main" val="31845492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03D40D-2D68-C0E4-7A7F-6D358D99D1DB}"/>
              </a:ext>
            </a:extLst>
          </p:cNvPr>
          <p:cNvSpPr>
            <a:spLocks noGrp="1"/>
          </p:cNvSpPr>
          <p:nvPr>
            <p:ph type="title"/>
          </p:nvPr>
        </p:nvSpPr>
        <p:spPr>
          <a:xfrm>
            <a:off x="2362200" y="895350"/>
            <a:ext cx="4112260" cy="307777"/>
          </a:xfrm>
        </p:spPr>
        <p:txBody>
          <a:bodyPr/>
          <a:lstStyle/>
          <a:p>
            <a:pPr algn="ctr"/>
            <a:r>
              <a:rPr lang="en-US" sz="2000" dirty="0">
                <a:solidFill>
                  <a:schemeClr val="tx1"/>
                </a:solidFill>
                <a:latin typeface="Times New Roman" panose="02020603050405020304" pitchFamily="18" charset="0"/>
                <a:cs typeface="Times New Roman" panose="02020603050405020304" pitchFamily="18" charset="0"/>
              </a:rPr>
              <a:t>TECHNOLOGY STACK</a:t>
            </a:r>
          </a:p>
        </p:txBody>
      </p:sp>
      <p:sp>
        <p:nvSpPr>
          <p:cNvPr id="8" name="Rectangle 4">
            <a:extLst>
              <a:ext uri="{FF2B5EF4-FFF2-40B4-BE49-F238E27FC236}">
                <a16:creationId xmlns:a16="http://schemas.microsoft.com/office/drawing/2014/main" id="{492C78DF-BB9F-685A-201E-759A6F7B2ED5}"/>
              </a:ext>
            </a:extLst>
          </p:cNvPr>
          <p:cNvSpPr>
            <a:spLocks noChangeArrowheads="1"/>
          </p:cNvSpPr>
          <p:nvPr/>
        </p:nvSpPr>
        <p:spPr bwMode="auto">
          <a:xfrm>
            <a:off x="838200" y="1428750"/>
            <a:ext cx="7467600" cy="30027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50000"/>
              </a:lnSpc>
              <a:spcBef>
                <a:spcPct val="0"/>
              </a:spcBef>
              <a:spcAft>
                <a:spcPct val="0"/>
              </a:spcAft>
              <a:buFontTx/>
              <a:buChar char="•"/>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 Sources</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Satellite data (NASA OMI, Sentinel-5P), CPCB ground stations, climate datasets (ERA5).</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Programming Language</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Python (for data handling, analysis, and modeling).</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Libraries/Tools</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lvl="1" eaLnBrk="0" fontAlgn="base" hangingPunct="0">
              <a:lnSpc>
                <a:spcPct val="150000"/>
              </a:lnSpc>
              <a:spcBef>
                <a:spcPct val="0"/>
              </a:spcBef>
              <a:spcAft>
                <a:spcPct val="0"/>
              </a:spcAft>
              <a:buFontTx/>
              <a:buChar char="•"/>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Pandas, NumPy → data preprocessing</a:t>
            </a:r>
          </a:p>
          <a:p>
            <a:pPr lvl="1" eaLnBrk="0" fontAlgn="base" hangingPunct="0">
              <a:lnSpc>
                <a:spcPct val="150000"/>
              </a:lnSpc>
              <a:spcBef>
                <a:spcPct val="0"/>
              </a:spcBef>
              <a:spcAft>
                <a:spcPct val="0"/>
              </a:spcAft>
              <a:buFontTx/>
              <a:buChar char="•"/>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Stats models, Scikit-learn → Linear Regression, ARIMA</a:t>
            </a:r>
          </a:p>
          <a:p>
            <a:pPr lvl="1" eaLnBrk="0" fontAlgn="base" hangingPunct="0">
              <a:lnSpc>
                <a:spcPct val="150000"/>
              </a:lnSpc>
              <a:spcBef>
                <a:spcPct val="0"/>
              </a:spcBef>
              <a:spcAft>
                <a:spcPct val="0"/>
              </a:spcAft>
              <a:buFontTx/>
              <a:buChar char="•"/>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TensorFlow/Keras → LSTM deep learning</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Visualization</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Matplotlib, Seaborn, Plotly for graphs and heatmaps.</a:t>
            </a:r>
          </a:p>
        </p:txBody>
      </p:sp>
    </p:spTree>
    <p:extLst>
      <p:ext uri="{BB962C8B-B14F-4D97-AF65-F5344CB8AC3E}">
        <p14:creationId xmlns:p14="http://schemas.microsoft.com/office/powerpoint/2010/main" val="6801592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0C22A8-A318-A198-7C9D-D1060200E775}"/>
              </a:ext>
            </a:extLst>
          </p:cNvPr>
          <p:cNvSpPr>
            <a:spLocks noGrp="1"/>
          </p:cNvSpPr>
          <p:nvPr>
            <p:ph type="title"/>
          </p:nvPr>
        </p:nvSpPr>
        <p:spPr>
          <a:xfrm>
            <a:off x="3087370" y="706963"/>
            <a:ext cx="2664460" cy="307777"/>
          </a:xfrm>
        </p:spPr>
        <p:txBody>
          <a:bodyPr/>
          <a:lstStyle/>
          <a:p>
            <a:pPr algn="ctr"/>
            <a:r>
              <a:rPr lang="en-US" sz="2000" dirty="0">
                <a:solidFill>
                  <a:schemeClr val="tx1"/>
                </a:solidFill>
                <a:latin typeface="Times New Roman" panose="02020603050405020304" pitchFamily="18" charset="0"/>
                <a:cs typeface="Times New Roman" panose="02020603050405020304" pitchFamily="18" charset="0"/>
              </a:rPr>
              <a:t>RESULTS</a:t>
            </a:r>
            <a:endParaRPr lang="en-IN" sz="2000" dirty="0">
              <a:solidFill>
                <a:schemeClr val="tx1"/>
              </a:solidFill>
            </a:endParaRPr>
          </a:p>
        </p:txBody>
      </p:sp>
      <p:sp>
        <p:nvSpPr>
          <p:cNvPr id="5" name="TextBox 4">
            <a:extLst>
              <a:ext uri="{FF2B5EF4-FFF2-40B4-BE49-F238E27FC236}">
                <a16:creationId xmlns:a16="http://schemas.microsoft.com/office/drawing/2014/main" id="{97157D98-262A-C7B9-5C50-32A64CB4F961}"/>
              </a:ext>
            </a:extLst>
          </p:cNvPr>
          <p:cNvSpPr txBox="1"/>
          <p:nvPr/>
        </p:nvSpPr>
        <p:spPr>
          <a:xfrm>
            <a:off x="1143000" y="3867150"/>
            <a:ext cx="2895600" cy="261610"/>
          </a:xfrm>
          <a:prstGeom prst="rect">
            <a:avLst/>
          </a:prstGeom>
          <a:noFill/>
        </p:spPr>
        <p:txBody>
          <a:bodyPr wrap="square">
            <a:spAutoFit/>
          </a:bodyPr>
          <a:lstStyle/>
          <a:p>
            <a:pPr algn="ctr">
              <a:spcBef>
                <a:spcPts val="1200"/>
              </a:spcBef>
              <a:spcAft>
                <a:spcPts val="600"/>
              </a:spcAft>
            </a:pPr>
            <a:r>
              <a:rPr lang="en-US" sz="1100" i="1" kern="1200" dirty="0">
                <a:solidFill>
                  <a:srgbClr val="000000"/>
                </a:solidFill>
                <a:effectLst/>
                <a:latin typeface="Times New Roman" panose="02020603050405020304" pitchFamily="18" charset="0"/>
                <a:ea typeface="Times New Roman" panose="02020603050405020304" pitchFamily="18" charset="0"/>
                <a:cs typeface="+mn-cs"/>
              </a:rPr>
              <a:t>Fig-1: </a:t>
            </a:r>
            <a:r>
              <a:rPr lang="en-US" sz="1100" i="1" dirty="0">
                <a:latin typeface="Times New Roman" panose="02020603050405020304" pitchFamily="18" charset="0"/>
                <a:cs typeface="Times New Roman" panose="02020603050405020304" pitchFamily="18" charset="0"/>
              </a:rPr>
              <a:t>CFC Emissions vs Ozone Concentration </a:t>
            </a:r>
            <a:endParaRPr lang="en-US" sz="1100" i="1" dirty="0">
              <a:effectLst/>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AD6A031F-D40B-C053-A899-759DD544E2C4}"/>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b="5172"/>
          <a:stretch>
            <a:fillRect/>
          </a:stretch>
        </p:blipFill>
        <p:spPr bwMode="auto">
          <a:xfrm>
            <a:off x="609600" y="1502816"/>
            <a:ext cx="3668345" cy="2256219"/>
          </a:xfrm>
          <a:prstGeom prst="rect">
            <a:avLst/>
          </a:prstGeom>
          <a:ln w="6350">
            <a:solidFill>
              <a:schemeClr val="tx1"/>
            </a:solidFill>
          </a:ln>
          <a:extLst>
            <a:ext uri="{53640926-AAD7-44D8-BBD7-CCE9431645EC}">
              <a14:shadowObscured xmlns:a14="http://schemas.microsoft.com/office/drawing/2010/main"/>
            </a:ext>
          </a:extLst>
        </p:spPr>
      </p:pic>
      <p:sp>
        <p:nvSpPr>
          <p:cNvPr id="7" name="TextBox 6">
            <a:extLst>
              <a:ext uri="{FF2B5EF4-FFF2-40B4-BE49-F238E27FC236}">
                <a16:creationId xmlns:a16="http://schemas.microsoft.com/office/drawing/2014/main" id="{B5B3374B-100C-E920-E9EE-07D4E8FBDB34}"/>
              </a:ext>
            </a:extLst>
          </p:cNvPr>
          <p:cNvSpPr txBox="1"/>
          <p:nvPr/>
        </p:nvSpPr>
        <p:spPr>
          <a:xfrm>
            <a:off x="4419600" y="1962150"/>
            <a:ext cx="3962400" cy="1077218"/>
          </a:xfrm>
          <a:prstGeom prst="rect">
            <a:avLst/>
          </a:prstGeom>
          <a:noFill/>
        </p:spPr>
        <p:txBody>
          <a:bodyPr wrap="square">
            <a:spAutoFit/>
          </a:bodyPr>
          <a:lstStyle/>
          <a:p>
            <a:pPr algn="just"/>
            <a:r>
              <a:rPr lang="en-US" sz="1600" dirty="0">
                <a:latin typeface="Times New Roman" panose="02020603050405020304" pitchFamily="18" charset="0"/>
                <a:cs typeface="Times New Roman" panose="02020603050405020304" pitchFamily="18" charset="0"/>
              </a:rPr>
              <a:t>Dashboard highlights ozone risk in Andhra Pradesh, showing very unhealthy levels and the link between rising CFC emissions and declining ozone concentration.</a:t>
            </a:r>
          </a:p>
        </p:txBody>
      </p:sp>
    </p:spTree>
    <p:extLst>
      <p:ext uri="{BB962C8B-B14F-4D97-AF65-F5344CB8AC3E}">
        <p14:creationId xmlns:p14="http://schemas.microsoft.com/office/powerpoint/2010/main" val="1133801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FE272EA-85F7-549B-29A3-3E49F66F7F87}"/>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b="5855"/>
          <a:stretch>
            <a:fillRect/>
          </a:stretch>
        </p:blipFill>
        <p:spPr bwMode="auto">
          <a:xfrm>
            <a:off x="609600" y="1428750"/>
            <a:ext cx="3784324" cy="2151229"/>
          </a:xfrm>
          <a:prstGeom prst="rect">
            <a:avLst/>
          </a:prstGeom>
          <a:ln w="6350">
            <a:solidFill>
              <a:schemeClr val="tx1"/>
            </a:solidFill>
          </a:ln>
          <a:extLst>
            <a:ext uri="{53640926-AAD7-44D8-BBD7-CCE9431645EC}">
              <a14:shadowObscured xmlns:a14="http://schemas.microsoft.com/office/drawing/2010/main"/>
            </a:ext>
          </a:extLst>
        </p:spPr>
      </p:pic>
      <p:sp>
        <p:nvSpPr>
          <p:cNvPr id="5" name="TextBox 4">
            <a:extLst>
              <a:ext uri="{FF2B5EF4-FFF2-40B4-BE49-F238E27FC236}">
                <a16:creationId xmlns:a16="http://schemas.microsoft.com/office/drawing/2014/main" id="{6573C290-8A35-311F-5C1C-922E9D490BB5}"/>
              </a:ext>
            </a:extLst>
          </p:cNvPr>
          <p:cNvSpPr txBox="1"/>
          <p:nvPr/>
        </p:nvSpPr>
        <p:spPr>
          <a:xfrm>
            <a:off x="914400" y="3638550"/>
            <a:ext cx="3393492" cy="261610"/>
          </a:xfrm>
          <a:prstGeom prst="rect">
            <a:avLst/>
          </a:prstGeom>
          <a:noFill/>
        </p:spPr>
        <p:txBody>
          <a:bodyPr wrap="square">
            <a:spAutoFit/>
          </a:bodyPr>
          <a:lstStyle/>
          <a:p>
            <a:pPr algn="ctr">
              <a:spcBef>
                <a:spcPts val="1200"/>
              </a:spcBef>
              <a:spcAft>
                <a:spcPts val="600"/>
              </a:spcAft>
            </a:pPr>
            <a:r>
              <a:rPr lang="en-US" sz="1100" i="1" kern="1200" dirty="0">
                <a:solidFill>
                  <a:srgbClr val="000000"/>
                </a:solidFill>
                <a:effectLst/>
                <a:latin typeface="Times New Roman" panose="02020603050405020304" pitchFamily="18" charset="0"/>
                <a:ea typeface="Times New Roman" panose="02020603050405020304" pitchFamily="18" charset="0"/>
                <a:cs typeface="+mn-cs"/>
              </a:rPr>
              <a:t>Fig-2: </a:t>
            </a:r>
            <a:r>
              <a:rPr lang="en-US" sz="1100" i="1" dirty="0">
                <a:latin typeface="Times New Roman" panose="02020603050405020304" pitchFamily="18" charset="0"/>
                <a:cs typeface="Times New Roman" panose="02020603050405020304" pitchFamily="18" charset="0"/>
              </a:rPr>
              <a:t>Time Series &amp; Model Performance Comparison</a:t>
            </a:r>
            <a:endParaRPr lang="en-US" sz="1100" i="1" dirty="0">
              <a:effectLst/>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AAC75D60-F4EB-FA38-0AC5-440FDF058543}"/>
              </a:ext>
            </a:extLst>
          </p:cNvPr>
          <p:cNvSpPr txBox="1"/>
          <p:nvPr/>
        </p:nvSpPr>
        <p:spPr>
          <a:xfrm>
            <a:off x="4579374" y="1657350"/>
            <a:ext cx="3862980" cy="1477328"/>
          </a:xfrm>
          <a:prstGeom prst="rect">
            <a:avLst/>
          </a:prstGeom>
          <a:noFill/>
        </p:spPr>
        <p:txBody>
          <a:bodyPr wrap="square">
            <a:spAutoFit/>
          </a:bodyPr>
          <a:lstStyle/>
          <a:p>
            <a:pPr algn="just"/>
            <a:r>
              <a:rPr lang="en-US" sz="1800" dirty="0">
                <a:latin typeface="Times New Roman" panose="02020603050405020304" pitchFamily="18" charset="0"/>
                <a:cs typeface="Times New Roman" panose="02020603050405020304" pitchFamily="18" charset="0"/>
              </a:rPr>
              <a:t>compares observed and predicted ozone levels (2022–2025) and evaluates model performance, highlighting LSTM as the most accurate with 88% prediction reliability.</a:t>
            </a:r>
          </a:p>
        </p:txBody>
      </p:sp>
    </p:spTree>
    <p:extLst>
      <p:ext uri="{BB962C8B-B14F-4D97-AF65-F5344CB8AC3E}">
        <p14:creationId xmlns:p14="http://schemas.microsoft.com/office/powerpoint/2010/main" val="20510395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C7ADD1-E452-19D0-56E3-A62693C3B7C3}"/>
              </a:ext>
            </a:extLst>
          </p:cNvPr>
          <p:cNvSpPr>
            <a:spLocks noGrp="1"/>
          </p:cNvSpPr>
          <p:nvPr>
            <p:ph type="title"/>
          </p:nvPr>
        </p:nvSpPr>
        <p:spPr>
          <a:xfrm>
            <a:off x="3313594" y="944164"/>
            <a:ext cx="2131060" cy="380999"/>
          </a:xfrm>
        </p:spPr>
        <p:txBody>
          <a:bodyPr/>
          <a:lstStyle/>
          <a:p>
            <a:pPr algn="ctr"/>
            <a:r>
              <a:rPr lang="en-US" sz="2000" dirty="0">
                <a:solidFill>
                  <a:schemeClr val="tx1"/>
                </a:solidFill>
                <a:latin typeface="Times New Roman" panose="02020603050405020304" pitchFamily="18" charset="0"/>
                <a:cs typeface="Times New Roman" panose="02020603050405020304" pitchFamily="18" charset="0"/>
              </a:rPr>
              <a:t>CONCLUSION</a:t>
            </a:r>
            <a:br>
              <a:rPr lang="en-US" sz="2000" dirty="0">
                <a:solidFill>
                  <a:schemeClr val="tx1"/>
                </a:solidFill>
                <a:latin typeface="Times New Roman" panose="02020603050405020304" pitchFamily="18" charset="0"/>
                <a:cs typeface="Times New Roman" panose="02020603050405020304" pitchFamily="18" charset="0"/>
              </a:rPr>
            </a:br>
            <a:endParaRPr lang="en-IN" sz="2000" dirty="0">
              <a:solidFill>
                <a:schemeClr val="tx1"/>
              </a:solidFill>
              <a:latin typeface="Times New Roman" panose="02020603050405020304" pitchFamily="18" charset="0"/>
              <a:cs typeface="Times New Roman" panose="02020603050405020304" pitchFamily="18" charset="0"/>
            </a:endParaRPr>
          </a:p>
        </p:txBody>
      </p:sp>
      <p:sp>
        <p:nvSpPr>
          <p:cNvPr id="5" name="Text Placeholder 2">
            <a:extLst>
              <a:ext uri="{FF2B5EF4-FFF2-40B4-BE49-F238E27FC236}">
                <a16:creationId xmlns:a16="http://schemas.microsoft.com/office/drawing/2014/main" id="{B1BB37EE-26FB-73FF-D7FC-A6EC610B8B5F}"/>
              </a:ext>
            </a:extLst>
          </p:cNvPr>
          <p:cNvSpPr>
            <a:spLocks noGrp="1"/>
          </p:cNvSpPr>
          <p:nvPr>
            <p:ph type="body" idx="1"/>
          </p:nvPr>
        </p:nvSpPr>
        <p:spPr>
          <a:xfrm>
            <a:off x="763188" y="1123950"/>
            <a:ext cx="7617624" cy="3693319"/>
          </a:xfrm>
        </p:spPr>
        <p:txBody>
          <a:bodyPr/>
          <a:lstStyle/>
          <a:p>
            <a:pPr algn="just">
              <a:lnSpc>
                <a:spcPct val="150000"/>
              </a:lnSpc>
              <a:buNone/>
            </a:pPr>
            <a:br>
              <a:rPr lang="en-US" sz="1800" b="0" dirty="0">
                <a:solidFill>
                  <a:schemeClr val="tx1"/>
                </a:solidFill>
                <a:latin typeface="Times New Roman" panose="02020603050405020304" pitchFamily="18" charset="0"/>
                <a:cs typeface="Times New Roman" panose="02020603050405020304" pitchFamily="18" charset="0"/>
              </a:rPr>
            </a:br>
            <a:r>
              <a:rPr lang="en-US" sz="1600" b="0" dirty="0">
                <a:solidFill>
                  <a:schemeClr val="tx1"/>
                </a:solidFill>
                <a:latin typeface="Times New Roman" panose="02020603050405020304" pitchFamily="18" charset="0"/>
                <a:cs typeface="Times New Roman" panose="02020603050405020304" pitchFamily="18" charset="0"/>
              </a:rPr>
              <a:t>This project demonstrates the effectiveness of combining climatological data with machine learning models to analyze ozone depletion in India’s industrial regions. </a:t>
            </a:r>
          </a:p>
          <a:p>
            <a:pPr algn="just">
              <a:lnSpc>
                <a:spcPct val="150000"/>
              </a:lnSpc>
              <a:buFont typeface="Arial" panose="020B0604020202020204" pitchFamily="34" charset="0"/>
              <a:buChar char="•"/>
            </a:pPr>
            <a:r>
              <a:rPr lang="en-US" sz="1600" dirty="0">
                <a:solidFill>
                  <a:schemeClr val="tx1"/>
                </a:solidFill>
                <a:latin typeface="Times New Roman" panose="02020603050405020304" pitchFamily="18" charset="0"/>
                <a:cs typeface="Times New Roman" panose="02020603050405020304" pitchFamily="18" charset="0"/>
              </a:rPr>
              <a:t>Tracks Trends:</a:t>
            </a:r>
            <a:r>
              <a:rPr lang="en-US" sz="1600" b="0" dirty="0">
                <a:solidFill>
                  <a:schemeClr val="tx1"/>
                </a:solidFill>
                <a:latin typeface="Times New Roman" panose="02020603050405020304" pitchFamily="18" charset="0"/>
                <a:cs typeface="Times New Roman" panose="02020603050405020304" pitchFamily="18" charset="0"/>
              </a:rPr>
              <a:t> Identifies year-wise ozone thinning patterns across industrial hotspots.</a:t>
            </a:r>
          </a:p>
          <a:p>
            <a:pPr algn="just">
              <a:lnSpc>
                <a:spcPct val="150000"/>
              </a:lnSpc>
              <a:buFont typeface="Arial" panose="020B0604020202020204" pitchFamily="34" charset="0"/>
              <a:buChar char="•"/>
            </a:pPr>
            <a:r>
              <a:rPr lang="en-US" sz="1600" dirty="0">
                <a:solidFill>
                  <a:schemeClr val="tx1"/>
                </a:solidFill>
                <a:latin typeface="Times New Roman" panose="02020603050405020304" pitchFamily="18" charset="0"/>
                <a:cs typeface="Times New Roman" panose="02020603050405020304" pitchFamily="18" charset="0"/>
              </a:rPr>
              <a:t>Improves Accuracy: </a:t>
            </a:r>
            <a:r>
              <a:rPr lang="en-US" sz="1600" b="0" dirty="0">
                <a:solidFill>
                  <a:schemeClr val="tx1"/>
                </a:solidFill>
                <a:latin typeface="Times New Roman" panose="02020603050405020304" pitchFamily="18" charset="0"/>
                <a:cs typeface="Times New Roman" panose="02020603050405020304" pitchFamily="18" charset="0"/>
              </a:rPr>
              <a:t>Uses ML models (Linear Regression, ARIMA, LSTM) for reliable forecasting &amp; identify best suited algorithm with more accuracy.</a:t>
            </a:r>
          </a:p>
          <a:p>
            <a:pPr algn="just">
              <a:lnSpc>
                <a:spcPct val="150000"/>
              </a:lnSpc>
              <a:buFont typeface="Arial" panose="020B0604020202020204" pitchFamily="34" charset="0"/>
              <a:buChar char="•"/>
            </a:pPr>
            <a:r>
              <a:rPr lang="en-US" sz="1600" dirty="0">
                <a:solidFill>
                  <a:schemeClr val="tx1"/>
                </a:solidFill>
                <a:latin typeface="Times New Roman" panose="02020603050405020304" pitchFamily="18" charset="0"/>
                <a:cs typeface="Times New Roman" panose="02020603050405020304" pitchFamily="18" charset="0"/>
              </a:rPr>
              <a:t>Supports Policy: </a:t>
            </a:r>
            <a:r>
              <a:rPr lang="en-US" sz="1600" b="0" dirty="0">
                <a:solidFill>
                  <a:schemeClr val="tx1"/>
                </a:solidFill>
                <a:latin typeface="Times New Roman" panose="02020603050405020304" pitchFamily="18" charset="0"/>
                <a:cs typeface="Times New Roman" panose="02020603050405020304" pitchFamily="18" charset="0"/>
              </a:rPr>
              <a:t>Provides predictive insights to aid environmental regulation and sustainable practices.</a:t>
            </a:r>
          </a:p>
          <a:p>
            <a:endParaRPr lang="en-US" sz="2000" b="0" dirty="0">
              <a:solidFill>
                <a:schemeClr val="tx1"/>
              </a:solidFill>
              <a:latin typeface="Times New Roman" panose="02020603050405020304" pitchFamily="18" charset="0"/>
              <a:cs typeface="Times New Roman" panose="02020603050405020304" pitchFamily="18" charset="0"/>
            </a:endParaRPr>
          </a:p>
          <a:p>
            <a:pPr algn="just"/>
            <a:br>
              <a:rPr lang="en-US" sz="900" b="0" dirty="0">
                <a:latin typeface="Times New Roman" panose="02020603050405020304" pitchFamily="18" charset="0"/>
                <a:cs typeface="Times New Roman" panose="02020603050405020304" pitchFamily="18" charset="0"/>
              </a:rPr>
            </a:br>
            <a:endParaRPr lang="en-US" sz="1600" b="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894561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CE24FC98-17A6-4848-605E-EF6A58379989}"/>
              </a:ext>
            </a:extLst>
          </p:cNvPr>
          <p:cNvSpPr txBox="1"/>
          <p:nvPr/>
        </p:nvSpPr>
        <p:spPr>
          <a:xfrm>
            <a:off x="3352800" y="819150"/>
            <a:ext cx="2283460" cy="400110"/>
          </a:xfrm>
          <a:prstGeom prst="rect">
            <a:avLst/>
          </a:prstGeom>
          <a:noFill/>
        </p:spPr>
        <p:txBody>
          <a:bodyPr wrap="square" rtlCol="0">
            <a:spAutoFit/>
          </a:bodyPr>
          <a:lstStyle/>
          <a:p>
            <a:pPr algn="ctr"/>
            <a:r>
              <a:rPr lang="en-US" sz="2000" b="1" dirty="0">
                <a:latin typeface="Times New Roman" panose="02020603050405020304" pitchFamily="18" charset="0"/>
                <a:cs typeface="Times New Roman" panose="02020603050405020304" pitchFamily="18" charset="0"/>
              </a:rPr>
              <a:t>FUTURE SCOPE</a:t>
            </a:r>
            <a:endParaRPr lang="en-US" sz="2000" b="1" dirty="0"/>
          </a:p>
        </p:txBody>
      </p:sp>
      <p:sp>
        <p:nvSpPr>
          <p:cNvPr id="8" name="TextBox 7">
            <a:extLst>
              <a:ext uri="{FF2B5EF4-FFF2-40B4-BE49-F238E27FC236}">
                <a16:creationId xmlns:a16="http://schemas.microsoft.com/office/drawing/2014/main" id="{1484C04F-127E-84CC-BE0D-CECC4339A513}"/>
              </a:ext>
            </a:extLst>
          </p:cNvPr>
          <p:cNvSpPr txBox="1"/>
          <p:nvPr/>
        </p:nvSpPr>
        <p:spPr>
          <a:xfrm>
            <a:off x="1066800" y="1504950"/>
            <a:ext cx="7696200" cy="2954655"/>
          </a:xfrm>
          <a:prstGeom prst="rect">
            <a:avLst/>
          </a:prstGeom>
          <a:noFill/>
        </p:spPr>
        <p:txBody>
          <a:bodyPr wrap="square">
            <a:spAutoFit/>
          </a:bodyPr>
          <a:lstStyle/>
          <a:p>
            <a:pPr algn="just">
              <a:lnSpc>
                <a:spcPct val="150000"/>
              </a:lnSpc>
            </a:pPr>
            <a:r>
              <a:rPr lang="en-US" sz="1600" dirty="0">
                <a:latin typeface="Times New Roman" panose="02020603050405020304" pitchFamily="18" charset="0"/>
                <a:cs typeface="Times New Roman" panose="02020603050405020304" pitchFamily="18" charset="0"/>
              </a:rPr>
              <a:t>The project can be extended in several meaningful directions:</a:t>
            </a:r>
          </a:p>
          <a:p>
            <a:pPr lvl="0" algn="just" eaLnBrk="0" fontAlgn="base" hangingPunct="0">
              <a:lnSpc>
                <a:spcPct val="150000"/>
              </a:lnSpc>
              <a:spcBef>
                <a:spcPct val="0"/>
              </a:spcBef>
              <a:spcAft>
                <a:spcPct val="0"/>
              </a:spcAft>
              <a:buFontTx/>
              <a:buChar char="•"/>
            </a:pPr>
            <a:r>
              <a:rPr lang="en-US" altLang="en-US" sz="1600" b="1" dirty="0">
                <a:latin typeface="Times New Roman" panose="02020603050405020304" pitchFamily="18" charset="0"/>
                <a:cs typeface="Times New Roman" panose="02020603050405020304" pitchFamily="18" charset="0"/>
              </a:rPr>
              <a:t>Noise Removal</a:t>
            </a:r>
            <a:r>
              <a:rPr lang="en-US" altLang="en-US" sz="1600" dirty="0">
                <a:latin typeface="Times New Roman" panose="02020603050405020304" pitchFamily="18" charset="0"/>
                <a:cs typeface="Times New Roman" panose="02020603050405020304" pitchFamily="18" charset="0"/>
              </a:rPr>
              <a:t>: Apply advanced filtering to clean satellite and ground data.</a:t>
            </a:r>
          </a:p>
          <a:p>
            <a:pPr lvl="0" algn="just" eaLnBrk="0" fontAlgn="base" hangingPunct="0">
              <a:lnSpc>
                <a:spcPct val="150000"/>
              </a:lnSpc>
              <a:spcBef>
                <a:spcPct val="0"/>
              </a:spcBef>
              <a:spcAft>
                <a:spcPct val="0"/>
              </a:spcAft>
              <a:buFontTx/>
              <a:buChar char="•"/>
            </a:pPr>
            <a:r>
              <a:rPr lang="en-US" altLang="en-US" sz="1600" b="1" dirty="0">
                <a:latin typeface="Times New Roman" panose="02020603050405020304" pitchFamily="18" charset="0"/>
                <a:cs typeface="Times New Roman" panose="02020603050405020304" pitchFamily="18" charset="0"/>
              </a:rPr>
              <a:t>Expanded Data Sources</a:t>
            </a:r>
            <a:r>
              <a:rPr lang="en-US" altLang="en-US" sz="1600" dirty="0">
                <a:latin typeface="Times New Roman" panose="02020603050405020304" pitchFamily="18" charset="0"/>
                <a:cs typeface="Times New Roman" panose="02020603050405020304" pitchFamily="18" charset="0"/>
              </a:rPr>
              <a:t>: Use IoT sensors and more satellite missions.</a:t>
            </a:r>
          </a:p>
          <a:p>
            <a:pPr lvl="0" algn="just" eaLnBrk="0" fontAlgn="base" hangingPunct="0">
              <a:lnSpc>
                <a:spcPct val="150000"/>
              </a:lnSpc>
              <a:spcBef>
                <a:spcPct val="0"/>
              </a:spcBef>
              <a:spcAft>
                <a:spcPct val="0"/>
              </a:spcAft>
              <a:buFontTx/>
              <a:buChar char="•"/>
            </a:pPr>
            <a:r>
              <a:rPr lang="en-US" altLang="en-US" sz="1600" b="1" dirty="0">
                <a:latin typeface="Times New Roman" panose="02020603050405020304" pitchFamily="18" charset="0"/>
                <a:cs typeface="Times New Roman" panose="02020603050405020304" pitchFamily="18" charset="0"/>
              </a:rPr>
              <a:t>Hybrid Modeling</a:t>
            </a:r>
            <a:r>
              <a:rPr lang="en-US" altLang="en-US" sz="1600" dirty="0">
                <a:latin typeface="Times New Roman" panose="02020603050405020304" pitchFamily="18" charset="0"/>
                <a:cs typeface="Times New Roman" panose="02020603050405020304" pitchFamily="18" charset="0"/>
              </a:rPr>
              <a:t>: Combine statistical and deep learning methods.</a:t>
            </a:r>
          </a:p>
          <a:p>
            <a:pPr lvl="0" algn="just" eaLnBrk="0" fontAlgn="base" hangingPunct="0">
              <a:lnSpc>
                <a:spcPct val="150000"/>
              </a:lnSpc>
              <a:spcBef>
                <a:spcPct val="0"/>
              </a:spcBef>
              <a:spcAft>
                <a:spcPct val="0"/>
              </a:spcAft>
              <a:buFontTx/>
              <a:buChar char="•"/>
            </a:pPr>
            <a:r>
              <a:rPr lang="en-US" altLang="en-US" sz="1600" b="1" dirty="0">
                <a:latin typeface="Times New Roman" panose="02020603050405020304" pitchFamily="18" charset="0"/>
                <a:cs typeface="Times New Roman" panose="02020603050405020304" pitchFamily="18" charset="0"/>
              </a:rPr>
              <a:t>Scalable Deployment</a:t>
            </a:r>
            <a:r>
              <a:rPr lang="en-US" altLang="en-US" sz="1600" dirty="0">
                <a:latin typeface="Times New Roman" panose="02020603050405020304" pitchFamily="18" charset="0"/>
                <a:cs typeface="Times New Roman" panose="02020603050405020304" pitchFamily="18" charset="0"/>
              </a:rPr>
              <a:t>: Enable real-time monitoring via cloud platforms.</a:t>
            </a:r>
          </a:p>
          <a:p>
            <a:pPr lvl="0" algn="just" eaLnBrk="0" fontAlgn="base" hangingPunct="0">
              <a:lnSpc>
                <a:spcPct val="150000"/>
              </a:lnSpc>
              <a:spcBef>
                <a:spcPct val="0"/>
              </a:spcBef>
              <a:spcAft>
                <a:spcPct val="0"/>
              </a:spcAft>
              <a:buFontTx/>
              <a:buChar char="•"/>
            </a:pPr>
            <a:r>
              <a:rPr lang="en-US" altLang="en-US" sz="1600" b="1" dirty="0">
                <a:latin typeface="Times New Roman" panose="02020603050405020304" pitchFamily="18" charset="0"/>
                <a:cs typeface="Times New Roman" panose="02020603050405020304" pitchFamily="18" charset="0"/>
              </a:rPr>
              <a:t>Policy Integration</a:t>
            </a:r>
            <a:r>
              <a:rPr lang="en-US" altLang="en-US" sz="1600" dirty="0">
                <a:latin typeface="Times New Roman" panose="02020603050405020304" pitchFamily="18" charset="0"/>
                <a:cs typeface="Times New Roman" panose="02020603050405020304" pitchFamily="18" charset="0"/>
              </a:rPr>
              <a:t>: Connect forecasts with government dashboards.</a:t>
            </a:r>
          </a:p>
          <a:p>
            <a:pPr lvl="0" algn="just" eaLnBrk="0" fontAlgn="base" hangingPunct="0">
              <a:lnSpc>
                <a:spcPct val="150000"/>
              </a:lnSpc>
              <a:spcBef>
                <a:spcPct val="0"/>
              </a:spcBef>
              <a:spcAft>
                <a:spcPct val="0"/>
              </a:spcAft>
              <a:buFontTx/>
              <a:buChar char="•"/>
            </a:pPr>
            <a:r>
              <a:rPr lang="en-US" altLang="en-US" sz="1600" b="1" dirty="0">
                <a:latin typeface="Times New Roman" panose="02020603050405020304" pitchFamily="18" charset="0"/>
                <a:cs typeface="Times New Roman" panose="02020603050405020304" pitchFamily="18" charset="0"/>
              </a:rPr>
              <a:t>Public Accessibility</a:t>
            </a:r>
            <a:r>
              <a:rPr lang="en-US" altLang="en-US" sz="1600" dirty="0">
                <a:latin typeface="Times New Roman" panose="02020603050405020304" pitchFamily="18" charset="0"/>
                <a:cs typeface="Times New Roman" panose="02020603050405020304" pitchFamily="18" charset="0"/>
              </a:rPr>
              <a:t>: Provide mobile/web apps for early warnings</a:t>
            </a:r>
            <a:endParaRPr lang="en-US" sz="1600" dirty="0">
              <a:latin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7115205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32C2F792-9AAE-8C09-CC31-2BFA87D7F2D1}"/>
              </a:ext>
            </a:extLst>
          </p:cNvPr>
          <p:cNvSpPr>
            <a:spLocks noGrp="1"/>
          </p:cNvSpPr>
          <p:nvPr>
            <p:ph type="body" idx="1"/>
          </p:nvPr>
        </p:nvSpPr>
        <p:spPr>
          <a:xfrm>
            <a:off x="1847533" y="2233196"/>
            <a:ext cx="5448934" cy="677108"/>
          </a:xfrm>
        </p:spPr>
        <p:txBody>
          <a:bodyPr/>
          <a:lstStyle/>
          <a:p>
            <a:pPr algn="ctr"/>
            <a:r>
              <a:rPr lang="en-IN"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185042788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H Sarabun PSK"/>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H Sarabun PSK"/>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1706</TotalTime>
  <Words>1435</Words>
  <Application>Microsoft Office PowerPoint</Application>
  <PresentationFormat>On-screen Show (16:9)</PresentationFormat>
  <Paragraphs>170</Paragraphs>
  <Slides>20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20</vt:i4>
      </vt:variant>
    </vt:vector>
  </HeadingPairs>
  <TitlesOfParts>
    <vt:vector size="27" baseType="lpstr">
      <vt:lpstr>Arial</vt:lpstr>
      <vt:lpstr>Calibri</vt:lpstr>
      <vt:lpstr>Cambria</vt:lpstr>
      <vt:lpstr>Symbol</vt:lpstr>
      <vt:lpstr>Times New Roman</vt:lpstr>
      <vt:lpstr>Wingdings</vt:lpstr>
      <vt:lpstr>Office Theme</vt:lpstr>
      <vt:lpstr>PowerPoint Presentation</vt:lpstr>
      <vt:lpstr>PowerPoint Presentation</vt:lpstr>
      <vt:lpstr>PowerPoint Presentation</vt:lpstr>
      <vt:lpstr>ABSTRACT </vt:lpstr>
      <vt:lpstr>PROBLEM STATEMENT </vt:lpstr>
      <vt:lpstr>LITERATURE SURVEY</vt:lpstr>
      <vt:lpstr>LITERATURE SURVEY(continued)</vt:lpstr>
      <vt:lpstr>LITERATURE SURVEY(continued)</vt:lpstr>
      <vt:lpstr>EXISTING SYSTEM</vt:lpstr>
      <vt:lpstr>PROPOSED SYSTEM</vt:lpstr>
      <vt:lpstr>PowerPoint Presentation</vt:lpstr>
      <vt:lpstr>SYSTEM ARCHITECTURE</vt:lpstr>
      <vt:lpstr>DEVELOPMENT OF THE PROJECT</vt:lpstr>
      <vt:lpstr>PowerPoint Presentation</vt:lpstr>
      <vt:lpstr>TECHNOLOGY STACK</vt:lpstr>
      <vt:lpstr>RESULTS</vt:lpstr>
      <vt:lpstr>PowerPoint Presentation</vt:lpstr>
      <vt:lpstr>CONCLUSION </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AJAY KUMAR VUNDRAJAVARAPU</dc:creator>
  <cp:lastModifiedBy>padmaja katuri</cp:lastModifiedBy>
  <cp:revision>17</cp:revision>
  <dcterms:created xsi:type="dcterms:W3CDTF">2023-07-09T19:41:35Z</dcterms:created>
  <dcterms:modified xsi:type="dcterms:W3CDTF">2026-04-20T07:58:03Z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2022-09-21T00:00:00Z</vt:filetime>
  </property>
  <property fmtid="{D5CDD505-2E9C-101B-9397-08002B2CF9AE}" pid="3" name="Creator">
    <vt:lpwstr>Microsoft® PowerPoint® 2016</vt:lpwstr>
  </property>
  <property fmtid="{D5CDD505-2E9C-101B-9397-08002B2CF9AE}" pid="4" name="LastSaved">
    <vt:filetime>2023-07-10T00:00:00Z</vt:filetime>
  </property>
  <property fmtid="{D5CDD505-2E9C-101B-9397-08002B2CF9AE}" pid="5" name="ICV">
    <vt:lpwstr>03567981822a4a3b9713b34d7818a798</vt:lpwstr>
  </property>
</Properties>
</file>